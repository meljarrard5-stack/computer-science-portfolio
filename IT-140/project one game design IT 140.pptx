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sldIdLst>
    <p:sldId id="256" r:id="rId2"/>
    <p:sldId id="257" r:id="rId3"/>
    <p:sldId id="258" r:id="rId4"/>
    <p:sldId id="264" r:id="rId5"/>
    <p:sldId id="265" r:id="rId6"/>
    <p:sldId id="259" r:id="rId7"/>
    <p:sldId id="260" r:id="rId8"/>
    <p:sldId id="262" r:id="rId9"/>
    <p:sldId id="261" r:id="rId10"/>
    <p:sldId id="263"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85" d="100"/>
          <a:sy n="85" d="100"/>
        </p:scale>
        <p:origin x="398" y="2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Freeform 28"/>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031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40525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38812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71091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80689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4006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91416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66240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73171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37700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61320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398962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454265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062141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601351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5448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cxnSp>
          <p:nvCxnSpPr>
            <p:cNvPr id="7" name="Straight Connector 6"/>
            <p:cNvCxnSpPr/>
            <p:nvPr/>
          </p:nvCxnSpPr>
          <p:spPr>
            <a:xfrm flipV="1">
              <a:off x="5130830" y="4175605"/>
              <a:ext cx="4022475" cy="2682396"/>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11/29/2025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606149635"/>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Fireflies in the forest at dusk">
            <a:extLst>
              <a:ext uri="{FF2B5EF4-FFF2-40B4-BE49-F238E27FC236}">
                <a16:creationId xmlns:a16="http://schemas.microsoft.com/office/drawing/2014/main" id="{B4D1F8AD-3C77-D9A6-6AA6-ED1AA91045B7}"/>
              </a:ext>
            </a:extLst>
          </p:cNvPr>
          <p:cNvPicPr>
            <a:picLocks noChangeAspect="1"/>
          </p:cNvPicPr>
          <p:nvPr/>
        </p:nvPicPr>
        <p:blipFill>
          <a:blip r:embed="rId2"/>
          <a:srcRect l="14746" r="27208" b="2"/>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extBox 1"/>
          <p:cNvSpPr txBox="1"/>
          <p:nvPr/>
        </p:nvSpPr>
        <p:spPr>
          <a:xfrm>
            <a:off x="501649" y="1678666"/>
            <a:ext cx="3258587" cy="2369093"/>
          </a:xfrm>
          <a:prstGeom prst="rect">
            <a:avLst/>
          </a:prstGeom>
        </p:spPr>
        <p:txBody>
          <a:bodyPr vert="horz" lIns="91440" tIns="45720" rIns="91440" bIns="45720" rtlCol="0" anchor="b">
            <a:normAutofit/>
          </a:bodyPr>
          <a:lstStyle/>
          <a:p>
            <a:pPr algn="r">
              <a:lnSpc>
                <a:spcPct val="90000"/>
              </a:lnSpc>
              <a:spcBef>
                <a:spcPct val="0"/>
              </a:spcBef>
              <a:spcAft>
                <a:spcPts val="600"/>
              </a:spcAft>
              <a:defRPr sz="4400" b="1">
                <a:solidFill>
                  <a:srgbClr val="78C878"/>
                </a:solidFill>
              </a:defRPr>
            </a:pPr>
            <a:r>
              <a:rPr lang="en-US" sz="3900" dirty="0">
                <a:solidFill>
                  <a:schemeClr val="accent1"/>
                </a:solidFill>
                <a:latin typeface="+mj-lt"/>
                <a:ea typeface="+mj-ea"/>
                <a:cs typeface="+mj-cs"/>
              </a:rPr>
              <a:t>Secrets of the Moonshadow Forest</a:t>
            </a:r>
          </a:p>
        </p:txBody>
      </p:sp>
      <p:sp>
        <p:nvSpPr>
          <p:cNvPr id="3" name="TextBox 2"/>
          <p:cNvSpPr txBox="1"/>
          <p:nvPr/>
        </p:nvSpPr>
        <p:spPr>
          <a:xfrm>
            <a:off x="508001" y="4050831"/>
            <a:ext cx="3059791" cy="1096901"/>
          </a:xfrm>
          <a:prstGeom prst="rect">
            <a:avLst/>
          </a:prstGeom>
        </p:spPr>
        <p:txBody>
          <a:bodyPr vert="horz" lIns="91440" tIns="45720" rIns="91440" bIns="45720" rtlCol="0" anchor="t">
            <a:normAutofit/>
          </a:bodyPr>
          <a:lstStyle/>
          <a:p>
            <a:pPr algn="r">
              <a:spcBef>
                <a:spcPts val="1000"/>
              </a:spcBef>
              <a:buClr>
                <a:schemeClr val="accent1"/>
              </a:buClr>
              <a:buSzPct val="80000"/>
              <a:defRPr sz="2400" b="0">
                <a:solidFill>
                  <a:srgbClr val="EBEBEB"/>
                </a:solidFill>
              </a:defRPr>
            </a:pPr>
            <a:r>
              <a:rPr lang="en-US" sz="1400">
                <a:solidFill>
                  <a:schemeClr val="tx1">
                    <a:lumMod val="50000"/>
                    <a:lumOff val="50000"/>
                  </a:schemeClr>
                </a:solidFill>
              </a:rPr>
              <a:t>IT 140 Project One – Game Design</a:t>
            </a:r>
            <a:br>
              <a:rPr lang="en-US" sz="1400">
                <a:solidFill>
                  <a:schemeClr val="tx1">
                    <a:lumMod val="50000"/>
                    <a:lumOff val="50000"/>
                  </a:schemeClr>
                </a:solidFill>
              </a:rPr>
            </a:br>
            <a:r>
              <a:rPr lang="en-US" sz="1400">
                <a:solidFill>
                  <a:schemeClr val="tx1">
                    <a:lumMod val="50000"/>
                    <a:lumOff val="50000"/>
                  </a:schemeClr>
                </a:solidFill>
              </a:rPr>
              <a:t>by Melanie Jarrard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extBox 1"/>
          <p:cNvSpPr txBox="1"/>
          <p:nvPr/>
        </p:nvSpPr>
        <p:spPr>
          <a:xfrm>
            <a:off x="4152550" y="298580"/>
            <a:ext cx="2802951" cy="1320800"/>
          </a:xfrm>
          <a:prstGeom prst="rect">
            <a:avLst/>
          </a:prstGeom>
        </p:spPr>
        <p:txBody>
          <a:bodyPr vert="horz" lIns="91440" tIns="45720" rIns="91440" bIns="45720" rtlCol="0" anchor="t">
            <a:normAutofit/>
          </a:bodyPr>
          <a:lstStyle/>
          <a:p>
            <a:pPr>
              <a:lnSpc>
                <a:spcPct val="90000"/>
              </a:lnSpc>
              <a:spcBef>
                <a:spcPct val="0"/>
              </a:spcBef>
              <a:spcAft>
                <a:spcPts val="600"/>
              </a:spcAft>
              <a:defRPr sz="3400" b="1">
                <a:solidFill>
                  <a:srgbClr val="78C878"/>
                </a:solidFill>
              </a:defRPr>
            </a:pPr>
            <a:r>
              <a:rPr lang="en-US" sz="2800" dirty="0">
                <a:solidFill>
                  <a:schemeClr val="accent1"/>
                </a:solidFill>
                <a:latin typeface="+mj-lt"/>
                <a:ea typeface="+mj-ea"/>
                <a:cs typeface="+mj-cs"/>
              </a:rPr>
              <a:t>Storyboard: Theme &amp; Storyline</a:t>
            </a:r>
          </a:p>
        </p:txBody>
      </p:sp>
      <p:sp>
        <p:nvSpPr>
          <p:cNvPr id="3" name="TextBox 2"/>
          <p:cNvSpPr txBox="1"/>
          <p:nvPr/>
        </p:nvSpPr>
        <p:spPr>
          <a:xfrm>
            <a:off x="3907172" y="2160589"/>
            <a:ext cx="3911881" cy="3880773"/>
          </a:xfrm>
          <a:prstGeom prst="rect">
            <a:avLst/>
          </a:prstGeom>
        </p:spPr>
        <p:txBody>
          <a:bodyPr vert="horz" lIns="91440" tIns="45720" rIns="91440" bIns="45720" rtlCol="0">
            <a:noAutofit/>
          </a:bodyPr>
          <a:lstStyle/>
          <a:p>
            <a:pPr>
              <a:lnSpc>
                <a:spcPct val="90000"/>
              </a:lnSpc>
              <a:spcBef>
                <a:spcPts val="1000"/>
              </a:spcBef>
              <a:buClr>
                <a:schemeClr val="accent1"/>
              </a:buClr>
              <a:buSzPct val="80000"/>
              <a:buFont typeface="Wingdings 3" charset="2"/>
              <a:buChar char=""/>
              <a:defRPr sz="2200" b="0">
                <a:solidFill>
                  <a:srgbClr val="EBEBEB"/>
                </a:solidFill>
              </a:defRPr>
            </a:pPr>
            <a:endParaRPr lang="en-US" sz="1600" dirty="0">
              <a:solidFill>
                <a:schemeClr val="tx1">
                  <a:lumMod val="75000"/>
                  <a:lumOff val="25000"/>
                </a:schemeClr>
              </a:solidFill>
            </a:endParaRPr>
          </a:p>
        </p:txBody>
      </p:sp>
      <p:pic>
        <p:nvPicPr>
          <p:cNvPr id="5" name="Picture 4" descr="Scenic view of trees and plants growing in the forest">
            <a:extLst>
              <a:ext uri="{FF2B5EF4-FFF2-40B4-BE49-F238E27FC236}">
                <a16:creationId xmlns:a16="http://schemas.microsoft.com/office/drawing/2014/main" id="{81DFE3AE-9473-4F83-9318-F3CC5894D111}"/>
              </a:ext>
            </a:extLst>
          </p:cNvPr>
          <p:cNvPicPr>
            <a:picLocks noChangeAspect="1"/>
          </p:cNvPicPr>
          <p:nvPr/>
        </p:nvPicPr>
        <p:blipFill>
          <a:blip r:embed="rId2"/>
          <a:srcRect l="31309" r="35651"/>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6" name="TextBox 5">
            <a:extLst>
              <a:ext uri="{FF2B5EF4-FFF2-40B4-BE49-F238E27FC236}">
                <a16:creationId xmlns:a16="http://schemas.microsoft.com/office/drawing/2014/main" id="{CF163617-8EE4-DF74-B8D5-7737FA68C1D8}"/>
              </a:ext>
            </a:extLst>
          </p:cNvPr>
          <p:cNvSpPr txBox="1"/>
          <p:nvPr/>
        </p:nvSpPr>
        <p:spPr>
          <a:xfrm>
            <a:off x="3907172" y="1619380"/>
            <a:ext cx="4687954" cy="5016758"/>
          </a:xfrm>
          <a:prstGeom prst="rect">
            <a:avLst/>
          </a:prstGeom>
          <a:noFill/>
        </p:spPr>
        <p:txBody>
          <a:bodyPr wrap="square">
            <a:spAutoFit/>
          </a:bodyPr>
          <a:lstStyle/>
          <a:p>
            <a:r>
              <a:rPr lang="en-US" sz="1600" dirty="0"/>
              <a:t>My game is set in the Moonshadow Forest, which feels like the kind of place I’d accidentally wander into—quiet, pretty, and just creepy enough that you know something is off. The player wakes up in the Forest Entrance with no idea how they got there and quickly realizes the woods are enchanted and watching them back. Long ago, two guardian spirits protected this forest, but a broken spell twisted one of them into a monster now called the Forest Guardian. Pieces of that spell were sealed into magical relics, and those relics are scattered across different rooms of the forest. To escape, the player has to explore each area, collect all of the relics, and avoid the Beast’s Lair until they’re fully ready. If they enter the villain’s room too early, the Guardian overwhelms them. But if they arrive with every relic, they can break the curse, restore balance to the forest, and finally find their way home.</a:t>
            </a:r>
          </a:p>
        </p:txBody>
      </p:sp>
    </p:spTree>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p:cNvSpPr txBox="1"/>
          <p:nvPr/>
        </p:nvSpPr>
        <p:spPr>
          <a:xfrm>
            <a:off x="508000" y="1253067"/>
            <a:ext cx="4616450" cy="4351866"/>
          </a:xfrm>
          <a:prstGeom prst="rect">
            <a:avLst/>
          </a:prstGeom>
        </p:spPr>
        <p:txBody>
          <a:bodyPr vert="horz" lIns="91440" tIns="45720" rIns="91440" bIns="45720" rtlCol="0" anchor="ctr">
            <a:normAutofit/>
          </a:bodyPr>
          <a:lstStyle/>
          <a:p>
            <a:pPr>
              <a:lnSpc>
                <a:spcPct val="90000"/>
              </a:lnSpc>
              <a:spcBef>
                <a:spcPts val="1000"/>
              </a:spcBef>
              <a:buClr>
                <a:schemeClr val="accent1"/>
              </a:buClr>
              <a:buSzPct val="80000"/>
              <a:buFont typeface="Wingdings 3" charset="2"/>
              <a:buChar char=""/>
              <a:defRPr sz="2200" b="0">
                <a:solidFill>
                  <a:srgbClr val="EBEBEB"/>
                </a:solidFill>
              </a:defRPr>
            </a:pPr>
            <a:endParaRPr lang="en-US" sz="2200" dirty="0">
              <a:solidFill>
                <a:schemeClr val="accent1">
                  <a:lumMod val="50000"/>
                </a:schemeClr>
              </a:solidFill>
            </a:endParaRPr>
          </a:p>
        </p:txBody>
      </p:sp>
      <p:sp>
        <p:nvSpPr>
          <p:cNvPr id="2" name="TextBox 1"/>
          <p:cNvSpPr txBox="1"/>
          <p:nvPr/>
        </p:nvSpPr>
        <p:spPr>
          <a:xfrm>
            <a:off x="5872243" y="1253067"/>
            <a:ext cx="2528807" cy="4351866"/>
          </a:xfrm>
          <a:prstGeom prst="rect">
            <a:avLst/>
          </a:prstGeom>
        </p:spPr>
        <p:txBody>
          <a:bodyPr vert="horz" lIns="91440" tIns="45720" rIns="91440" bIns="45720" rtlCol="0" anchor="ctr">
            <a:normAutofit/>
          </a:bodyPr>
          <a:lstStyle/>
          <a:p>
            <a:pPr>
              <a:spcBef>
                <a:spcPct val="0"/>
              </a:spcBef>
              <a:spcAft>
                <a:spcPts val="600"/>
              </a:spcAft>
              <a:defRPr sz="3400" b="1">
                <a:solidFill>
                  <a:srgbClr val="78C878"/>
                </a:solidFill>
              </a:defRPr>
            </a:pPr>
            <a:r>
              <a:rPr lang="en-US" sz="3600" dirty="0">
                <a:solidFill>
                  <a:schemeClr val="bg1"/>
                </a:solidFill>
                <a:latin typeface="+mj-lt"/>
                <a:ea typeface="+mj-ea"/>
                <a:cs typeface="+mj-cs"/>
              </a:rPr>
              <a:t>Rooms &amp; Items</a:t>
            </a:r>
          </a:p>
        </p:txBody>
      </p:sp>
      <p:sp>
        <p:nvSpPr>
          <p:cNvPr id="4" name="Rectangle 1">
            <a:extLst>
              <a:ext uri="{FF2B5EF4-FFF2-40B4-BE49-F238E27FC236}">
                <a16:creationId xmlns:a16="http://schemas.microsoft.com/office/drawing/2014/main" id="{80569659-C5A0-F56D-AA76-02562B87E4A5}"/>
              </a:ext>
            </a:extLst>
          </p:cNvPr>
          <p:cNvSpPr>
            <a:spLocks noChangeArrowheads="1"/>
          </p:cNvSpPr>
          <p:nvPr/>
        </p:nvSpPr>
        <p:spPr bwMode="auto">
          <a:xfrm>
            <a:off x="158621" y="173047"/>
            <a:ext cx="5943599" cy="6278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accent1">
                    <a:lumMod val="50000"/>
                  </a:schemeClr>
                </a:solidFill>
                <a:effectLst/>
                <a:latin typeface="Arial" panose="020B0604020202020204" pitchFamily="34" charset="0"/>
              </a:rPr>
              <a:t>Forest Entrance</a:t>
            </a: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 – </a:t>
            </a:r>
            <a:r>
              <a:rPr kumimoji="0" lang="en-US" altLang="en-US" sz="1600" b="0" i="1" u="none" strike="noStrike" cap="none" normalizeH="0" baseline="0" dirty="0">
                <a:ln>
                  <a:noFill/>
                </a:ln>
                <a:solidFill>
                  <a:schemeClr val="accent1">
                    <a:lumMod val="50000"/>
                  </a:schemeClr>
                </a:solidFill>
                <a:effectLst/>
                <a:latin typeface="Arial" panose="020B0604020202020204" pitchFamily="34" charset="0"/>
              </a:rPr>
              <a:t>(Start room, no item)</a:t>
            </a:r>
            <a:endParaRPr kumimoji="0" lang="en-US" altLang="en-US" sz="1600" b="0" i="0" u="none" strike="noStrike" cap="none" normalizeH="0" baseline="0" dirty="0">
              <a:ln>
                <a:noFill/>
              </a:ln>
              <a:solidFill>
                <a:schemeClr val="accent1">
                  <a:lumMod val="5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Description: Where the player begins. A narrow path disappears into the trees.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Exits: North → Whispering Grove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accent1">
                    <a:lumMod val="50000"/>
                  </a:schemeClr>
                </a:solidFill>
                <a:effectLst/>
                <a:latin typeface="Arial" panose="020B0604020202020204" pitchFamily="34" charset="0"/>
              </a:rPr>
              <a:t>Whispering Grove</a:t>
            </a: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 – </a:t>
            </a:r>
            <a:r>
              <a:rPr kumimoji="0" lang="en-US" altLang="en-US" sz="1600" b="0" i="1" u="none" strike="noStrike" cap="none" normalizeH="0" baseline="0" dirty="0">
                <a:ln>
                  <a:noFill/>
                </a:ln>
                <a:solidFill>
                  <a:schemeClr val="accent1">
                    <a:lumMod val="50000"/>
                  </a:schemeClr>
                </a:solidFill>
                <a:effectLst/>
                <a:latin typeface="Arial" panose="020B0604020202020204" pitchFamily="34" charset="0"/>
              </a:rPr>
              <a:t>Item: Silver Whistle</a:t>
            </a:r>
            <a:endParaRPr kumimoji="0" lang="en-US" altLang="en-US" sz="1600" b="0" i="0" u="none" strike="noStrike" cap="none" normalizeH="0" baseline="0" dirty="0">
              <a:ln>
                <a:noFill/>
              </a:ln>
              <a:solidFill>
                <a:schemeClr val="accent1">
                  <a:lumMod val="5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Description: Tall trees, faint whispering voices, leaves that seem to rustle words.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Exits: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South → Forest Entrance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East → Crystal Pond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North → Ancient Oak Hollow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accent1">
                    <a:lumMod val="50000"/>
                  </a:schemeClr>
                </a:solidFill>
                <a:effectLst/>
                <a:latin typeface="Arial" panose="020B0604020202020204" pitchFamily="34" charset="0"/>
              </a:rPr>
              <a:t>Crystal Pond</a:t>
            </a: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 – </a:t>
            </a:r>
            <a:r>
              <a:rPr kumimoji="0" lang="en-US" altLang="en-US" sz="1600" b="0" i="1" u="none" strike="noStrike" cap="none" normalizeH="0" baseline="0" dirty="0">
                <a:ln>
                  <a:noFill/>
                </a:ln>
                <a:solidFill>
                  <a:schemeClr val="accent1">
                    <a:lumMod val="50000"/>
                  </a:schemeClr>
                </a:solidFill>
                <a:effectLst/>
                <a:latin typeface="Arial" panose="020B0604020202020204" pitchFamily="34" charset="0"/>
              </a:rPr>
              <a:t>Item: Moonstone Lantern</a:t>
            </a:r>
            <a:endParaRPr kumimoji="0" lang="en-US" altLang="en-US" sz="1600" b="0" i="0" u="none" strike="noStrike" cap="none" normalizeH="0" baseline="0" dirty="0">
              <a:ln>
                <a:noFill/>
              </a:ln>
              <a:solidFill>
                <a:schemeClr val="accent1">
                  <a:lumMod val="5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Description: A glowing pond that reflects a pale moon, even when it’s not night.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Exits: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West → Whispering Grove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accent1">
                    <a:lumMod val="50000"/>
                  </a:schemeClr>
                </a:solidFill>
                <a:effectLst/>
                <a:latin typeface="Arial" panose="020B0604020202020204" pitchFamily="34" charset="0"/>
              </a:rPr>
              <a:t>Ancient Oak Hollow</a:t>
            </a: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 – </a:t>
            </a:r>
            <a:r>
              <a:rPr kumimoji="0" lang="en-US" altLang="en-US" sz="1600" b="0" i="1" u="none" strike="noStrike" cap="none" normalizeH="0" baseline="0" dirty="0">
                <a:ln>
                  <a:noFill/>
                </a:ln>
                <a:solidFill>
                  <a:schemeClr val="accent1">
                    <a:lumMod val="50000"/>
                  </a:schemeClr>
                </a:solidFill>
                <a:effectLst/>
                <a:latin typeface="Arial" panose="020B0604020202020204" pitchFamily="34" charset="0"/>
              </a:rPr>
              <a:t>Item: Enchanted Vines</a:t>
            </a:r>
            <a:endParaRPr kumimoji="0" lang="en-US" altLang="en-US" sz="1600" b="0" i="0" u="none" strike="noStrike" cap="none" normalizeH="0" baseline="0" dirty="0">
              <a:ln>
                <a:noFill/>
              </a:ln>
              <a:solidFill>
                <a:schemeClr val="accent1">
                  <a:lumMod val="5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Description: A massive hollow oak with roots like a natural doorway.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Exits: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South → Whispering Grove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North → Thorn Maze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West → Moonlit Ruins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East → Echo Cavern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A17825-FA4E-56C3-1085-B848F3D0AB9C}"/>
              </a:ext>
            </a:extLst>
          </p:cNvPr>
          <p:cNvSpPr txBox="1"/>
          <p:nvPr/>
        </p:nvSpPr>
        <p:spPr>
          <a:xfrm>
            <a:off x="6195527" y="935826"/>
            <a:ext cx="2765359" cy="4351866"/>
          </a:xfrm>
          <a:prstGeom prst="rect">
            <a:avLst/>
          </a:prstGeom>
        </p:spPr>
        <p:txBody>
          <a:bodyPr vert="horz" lIns="91440" tIns="45720" rIns="91440" bIns="45720" rtlCol="0" anchor="ctr">
            <a:normAutofit/>
          </a:bodyPr>
          <a:lstStyle/>
          <a:p>
            <a:pPr>
              <a:spcBef>
                <a:spcPct val="0"/>
              </a:spcBef>
              <a:spcAft>
                <a:spcPts val="600"/>
              </a:spcAft>
              <a:defRPr sz="3400" b="1">
                <a:solidFill>
                  <a:srgbClr val="78C878"/>
                </a:solidFill>
              </a:defRPr>
            </a:pPr>
            <a:r>
              <a:rPr lang="en-US" sz="3600" dirty="0">
                <a:solidFill>
                  <a:schemeClr val="bg1"/>
                </a:solidFill>
                <a:latin typeface="+mj-lt"/>
                <a:ea typeface="+mj-ea"/>
                <a:cs typeface="+mj-cs"/>
              </a:rPr>
              <a:t>Rooms &amp; Items (continued)</a:t>
            </a:r>
          </a:p>
        </p:txBody>
      </p:sp>
      <p:sp>
        <p:nvSpPr>
          <p:cNvPr id="3" name="Rectangle 1">
            <a:extLst>
              <a:ext uri="{FF2B5EF4-FFF2-40B4-BE49-F238E27FC236}">
                <a16:creationId xmlns:a16="http://schemas.microsoft.com/office/drawing/2014/main" id="{7AEA9EF0-1F4F-7B18-F982-B57D1B0B9324}"/>
              </a:ext>
            </a:extLst>
          </p:cNvPr>
          <p:cNvSpPr>
            <a:spLocks noChangeArrowheads="1"/>
          </p:cNvSpPr>
          <p:nvPr/>
        </p:nvSpPr>
        <p:spPr bwMode="auto">
          <a:xfrm>
            <a:off x="183114" y="428599"/>
            <a:ext cx="6248965" cy="578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accent1">
                    <a:lumMod val="50000"/>
                  </a:schemeClr>
                </a:solidFill>
                <a:effectLst/>
                <a:latin typeface="Arial" panose="020B0604020202020204" pitchFamily="34" charset="0"/>
              </a:rPr>
              <a:t>Moonlit Ruins</a:t>
            </a: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 – </a:t>
            </a:r>
            <a:r>
              <a:rPr kumimoji="0" lang="en-US" altLang="en-US" sz="1600" b="0" i="1" u="none" strike="noStrike" cap="none" normalizeH="0" baseline="0" dirty="0">
                <a:ln>
                  <a:noFill/>
                </a:ln>
                <a:solidFill>
                  <a:schemeClr val="accent1">
                    <a:lumMod val="50000"/>
                  </a:schemeClr>
                </a:solidFill>
                <a:effectLst/>
                <a:latin typeface="Arial" panose="020B0604020202020204" pitchFamily="34" charset="0"/>
              </a:rPr>
              <a:t>Item: Crystal Feather</a:t>
            </a:r>
            <a:endParaRPr kumimoji="0" lang="en-US" altLang="en-US" sz="1600" b="0" i="0" u="none" strike="noStrike" cap="none" normalizeH="0" baseline="0" dirty="0">
              <a:ln>
                <a:noFill/>
              </a:ln>
              <a:solidFill>
                <a:schemeClr val="accent1">
                  <a:lumMod val="5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Description: Crumbling stone archways lit by soft, drifting lights.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Exits: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East → Ancient Oak Hollow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accent1">
                    <a:lumMod val="50000"/>
                  </a:schemeClr>
                </a:solidFill>
                <a:effectLst/>
                <a:latin typeface="Arial" panose="020B0604020202020204" pitchFamily="34" charset="0"/>
              </a:rPr>
              <a:t>Thorn Maze</a:t>
            </a: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 – </a:t>
            </a:r>
            <a:r>
              <a:rPr kumimoji="0" lang="en-US" altLang="en-US" sz="1600" b="0" i="1" u="none" strike="noStrike" cap="none" normalizeH="0" baseline="0" dirty="0">
                <a:ln>
                  <a:noFill/>
                </a:ln>
                <a:solidFill>
                  <a:schemeClr val="accent1">
                    <a:lumMod val="50000"/>
                  </a:schemeClr>
                </a:solidFill>
                <a:effectLst/>
                <a:latin typeface="Arial" panose="020B0604020202020204" pitchFamily="34" charset="0"/>
              </a:rPr>
              <a:t>Item: Forest Charm</a:t>
            </a:r>
            <a:endParaRPr kumimoji="0" lang="en-US" altLang="en-US" sz="1600" b="0" i="0" u="none" strike="noStrike" cap="none" normalizeH="0" baseline="0" dirty="0">
              <a:ln>
                <a:noFill/>
              </a:ln>
              <a:solidFill>
                <a:schemeClr val="accent1">
                  <a:lumMod val="5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Description: Twisting paths lined with thick thorns that tug on clothing.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Exits: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South → Ancient Oak Hollow</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North → Skybridge Cliff</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East → Umbral Crossing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accent1">
                    <a:lumMod val="50000"/>
                  </a:schemeClr>
                </a:solidFill>
                <a:effectLst/>
                <a:latin typeface="Arial" panose="020B0604020202020204" pitchFamily="34" charset="0"/>
              </a:rPr>
              <a:t>Skybridge Cliff</a:t>
            </a: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 – </a:t>
            </a:r>
            <a:r>
              <a:rPr kumimoji="0" lang="en-US" altLang="en-US" sz="1600" b="0" i="1" u="none" strike="noStrike" cap="none" normalizeH="0" baseline="0" dirty="0">
                <a:ln>
                  <a:noFill/>
                </a:ln>
                <a:solidFill>
                  <a:schemeClr val="accent1">
                    <a:lumMod val="50000"/>
                  </a:schemeClr>
                </a:solidFill>
                <a:effectLst/>
                <a:latin typeface="Arial" panose="020B0604020202020204" pitchFamily="34" charset="0"/>
              </a:rPr>
              <a:t>Item: Mirror of Truth</a:t>
            </a:r>
            <a:endParaRPr kumimoji="0" lang="en-US" altLang="en-US" sz="1600" b="0" i="0" u="none" strike="noStrike" cap="none" normalizeH="0" baseline="0" dirty="0">
              <a:ln>
                <a:noFill/>
              </a:ln>
              <a:solidFill>
                <a:schemeClr val="accent1">
                  <a:lumMod val="5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Description: A narrow cliffside ledge with a natural stone “bridge” and a wide view of the forest.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Exits: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South → Thorn Maze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accent1">
                    <a:lumMod val="50000"/>
                  </a:schemeClr>
                </a:solidFill>
                <a:effectLst/>
                <a:latin typeface="Arial" panose="020B0604020202020204" pitchFamily="34" charset="0"/>
              </a:rPr>
              <a:t>Echo Cavern</a:t>
            </a: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 – </a:t>
            </a:r>
            <a:r>
              <a:rPr kumimoji="0" lang="en-US" altLang="en-US" sz="1600" b="0" i="1" u="none" strike="noStrike" cap="none" normalizeH="0" baseline="0" dirty="0">
                <a:ln>
                  <a:noFill/>
                </a:ln>
                <a:solidFill>
                  <a:schemeClr val="accent1">
                    <a:lumMod val="50000"/>
                  </a:schemeClr>
                </a:solidFill>
                <a:effectLst/>
                <a:latin typeface="Arial" panose="020B0604020202020204" pitchFamily="34" charset="0"/>
              </a:rPr>
              <a:t>Item: Spirit Chime</a:t>
            </a:r>
            <a:endParaRPr kumimoji="0" lang="en-US" altLang="en-US" sz="1600" b="0" i="0" u="none" strike="noStrike" cap="none" normalizeH="0" baseline="0" dirty="0">
              <a:ln>
                <a:noFill/>
              </a:ln>
              <a:solidFill>
                <a:schemeClr val="accent1">
                  <a:lumMod val="5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Description: A dim cave where every sound echoes strangely, like voices layered over each other.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Exits: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West → Ancient Oak Hollow</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1">
                    <a:lumMod val="50000"/>
                  </a:schemeClr>
                </a:solidFill>
                <a:effectLst/>
                <a:latin typeface="Arial" panose="020B0604020202020204" pitchFamily="34" charset="0"/>
              </a:rPr>
              <a:t>South → Shimmering Marsh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24422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A855C2-EAB2-2931-A6FC-113979522D49}"/>
              </a:ext>
            </a:extLst>
          </p:cNvPr>
          <p:cNvSpPr txBox="1"/>
          <p:nvPr/>
        </p:nvSpPr>
        <p:spPr>
          <a:xfrm>
            <a:off x="6406632" y="1575725"/>
            <a:ext cx="2737368" cy="4351866"/>
          </a:xfrm>
          <a:prstGeom prst="rect">
            <a:avLst/>
          </a:prstGeom>
        </p:spPr>
        <p:txBody>
          <a:bodyPr vert="horz" lIns="91440" tIns="45720" rIns="91440" bIns="45720" rtlCol="0" anchor="ctr">
            <a:normAutofit/>
          </a:bodyPr>
          <a:lstStyle/>
          <a:p>
            <a:pPr>
              <a:spcBef>
                <a:spcPct val="0"/>
              </a:spcBef>
              <a:spcAft>
                <a:spcPts val="600"/>
              </a:spcAft>
              <a:defRPr sz="3400" b="1">
                <a:solidFill>
                  <a:srgbClr val="78C878"/>
                </a:solidFill>
              </a:defRPr>
            </a:pPr>
            <a:r>
              <a:rPr lang="en-US" sz="3600" dirty="0">
                <a:solidFill>
                  <a:schemeClr val="bg1"/>
                </a:solidFill>
                <a:latin typeface="+mj-lt"/>
                <a:ea typeface="+mj-ea"/>
                <a:cs typeface="+mj-cs"/>
              </a:rPr>
              <a:t>Rooms &amp; Items (continued)</a:t>
            </a:r>
          </a:p>
        </p:txBody>
      </p:sp>
      <p:sp>
        <p:nvSpPr>
          <p:cNvPr id="3" name="Rectangle 1">
            <a:extLst>
              <a:ext uri="{FF2B5EF4-FFF2-40B4-BE49-F238E27FC236}">
                <a16:creationId xmlns:a16="http://schemas.microsoft.com/office/drawing/2014/main" id="{6283502E-8DCD-DACB-B541-0B0E49CF4E49}"/>
              </a:ext>
            </a:extLst>
          </p:cNvPr>
          <p:cNvSpPr>
            <a:spLocks noChangeArrowheads="1"/>
          </p:cNvSpPr>
          <p:nvPr/>
        </p:nvSpPr>
        <p:spPr bwMode="auto">
          <a:xfrm>
            <a:off x="289249" y="898616"/>
            <a:ext cx="6288833" cy="5078313"/>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accent1">
                    <a:lumMod val="50000"/>
                  </a:schemeClr>
                </a:solidFill>
                <a:effectLst/>
                <a:latin typeface="Arial" panose="020B0604020202020204" pitchFamily="34" charset="0"/>
              </a:rPr>
              <a:t>Shimmering Marsh</a:t>
            </a:r>
            <a:r>
              <a:rPr kumimoji="0" lang="en-US" altLang="en-US" b="0" i="0" u="none" strike="noStrike" cap="none" normalizeH="0" baseline="0" dirty="0">
                <a:ln>
                  <a:noFill/>
                </a:ln>
                <a:solidFill>
                  <a:schemeClr val="accent1">
                    <a:lumMod val="50000"/>
                  </a:schemeClr>
                </a:solidFill>
                <a:effectLst/>
                <a:latin typeface="Arial" panose="020B0604020202020204" pitchFamily="34" charset="0"/>
              </a:rPr>
              <a:t> – </a:t>
            </a:r>
            <a:r>
              <a:rPr kumimoji="0" lang="en-US" altLang="en-US" b="0" i="1" u="none" strike="noStrike" cap="none" normalizeH="0" baseline="0" dirty="0">
                <a:ln>
                  <a:noFill/>
                </a:ln>
                <a:solidFill>
                  <a:schemeClr val="accent1">
                    <a:lumMod val="50000"/>
                  </a:schemeClr>
                </a:solidFill>
                <a:effectLst/>
                <a:latin typeface="Arial" panose="020B0604020202020204" pitchFamily="34" charset="0"/>
              </a:rPr>
              <a:t>Item: Glimmer Reed</a:t>
            </a:r>
            <a:endParaRPr kumimoji="0" lang="en-US" altLang="en-US" b="0" i="0" u="none" strike="noStrike" cap="none" normalizeH="0" baseline="0" dirty="0">
              <a:ln>
                <a:noFill/>
              </a:ln>
              <a:solidFill>
                <a:schemeClr val="accent1">
                  <a:lumMod val="5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accent1">
                    <a:lumMod val="50000"/>
                  </a:schemeClr>
                </a:solidFill>
                <a:effectLst/>
                <a:latin typeface="Arial" panose="020B0604020202020204" pitchFamily="34" charset="0"/>
              </a:rPr>
              <a:t>Description: A glowing marsh with reeds that shimmer like tiny stars when touched.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accent1">
                    <a:lumMod val="50000"/>
                  </a:schemeClr>
                </a:solidFill>
                <a:effectLst/>
                <a:latin typeface="Arial" panose="020B0604020202020204" pitchFamily="34" charset="0"/>
              </a:rPr>
              <a:t>Exits: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accent1">
                    <a:lumMod val="50000"/>
                  </a:schemeClr>
                </a:solidFill>
                <a:effectLst/>
                <a:latin typeface="Arial" panose="020B0604020202020204" pitchFamily="34" charset="0"/>
              </a:rPr>
              <a:t>North → Echo Cavern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accent1">
                    <a:lumMod val="50000"/>
                  </a:schemeClr>
                </a:solidFill>
                <a:effectLst/>
                <a:latin typeface="Arial" panose="020B0604020202020204" pitchFamily="34" charset="0"/>
              </a:rPr>
              <a:t>West → Whispering Grove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accent1">
                    <a:lumMod val="50000"/>
                  </a:schemeClr>
                </a:solidFill>
                <a:effectLst/>
                <a:latin typeface="Arial" panose="020B0604020202020204" pitchFamily="34" charset="0"/>
              </a:rPr>
              <a:t>Umbral Crossing</a:t>
            </a:r>
            <a:r>
              <a:rPr kumimoji="0" lang="en-US" altLang="en-US" b="0" i="0" u="none" strike="noStrike" cap="none" normalizeH="0" baseline="0" dirty="0">
                <a:ln>
                  <a:noFill/>
                </a:ln>
                <a:solidFill>
                  <a:schemeClr val="accent1">
                    <a:lumMod val="50000"/>
                  </a:schemeClr>
                </a:solidFill>
                <a:effectLst/>
                <a:latin typeface="Arial" panose="020B0604020202020204" pitchFamily="34" charset="0"/>
              </a:rPr>
              <a:t> – </a:t>
            </a:r>
            <a:r>
              <a:rPr kumimoji="0" lang="en-US" altLang="en-US" b="0" i="1" u="none" strike="noStrike" cap="none" normalizeH="0" baseline="0" dirty="0">
                <a:ln>
                  <a:noFill/>
                </a:ln>
                <a:solidFill>
                  <a:schemeClr val="accent1">
                    <a:lumMod val="50000"/>
                  </a:schemeClr>
                </a:solidFill>
                <a:effectLst/>
                <a:latin typeface="Arial" panose="020B0604020202020204" pitchFamily="34" charset="0"/>
              </a:rPr>
              <a:t>Item: Shadow Petal</a:t>
            </a:r>
            <a:endParaRPr kumimoji="0" lang="en-US" altLang="en-US" b="0" i="0" u="none" strike="noStrike" cap="none" normalizeH="0" baseline="0" dirty="0">
              <a:ln>
                <a:noFill/>
              </a:ln>
              <a:solidFill>
                <a:schemeClr val="accent1">
                  <a:lumMod val="5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accent1">
                    <a:lumMod val="50000"/>
                  </a:schemeClr>
                </a:solidFill>
                <a:effectLst/>
                <a:latin typeface="Arial" panose="020B0604020202020204" pitchFamily="34" charset="0"/>
              </a:rPr>
              <a:t>Description: A shadowy crossing where the air feels heavy and dark petals drift by.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accent1">
                    <a:lumMod val="50000"/>
                  </a:schemeClr>
                </a:solidFill>
                <a:effectLst/>
                <a:latin typeface="Arial" panose="020B0604020202020204" pitchFamily="34" charset="0"/>
              </a:rPr>
              <a:t>Exits: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accent1">
                    <a:lumMod val="50000"/>
                  </a:schemeClr>
                </a:solidFill>
                <a:effectLst/>
                <a:latin typeface="Arial" panose="020B0604020202020204" pitchFamily="34" charset="0"/>
              </a:rPr>
              <a:t>West → Thorn Maze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accent1">
                    <a:lumMod val="50000"/>
                  </a:schemeClr>
                </a:solidFill>
                <a:effectLst/>
                <a:latin typeface="Arial" panose="020B0604020202020204" pitchFamily="34" charset="0"/>
              </a:rPr>
              <a:t>North → Beast’s Lair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accent1">
                    <a:lumMod val="50000"/>
                  </a:schemeClr>
                </a:solidFill>
                <a:effectLst/>
                <a:latin typeface="Arial" panose="020B0604020202020204" pitchFamily="34" charset="0"/>
              </a:rPr>
              <a:t>Beast’s Lair</a:t>
            </a:r>
            <a:r>
              <a:rPr kumimoji="0" lang="en-US" altLang="en-US" b="0" i="0" u="none" strike="noStrike" cap="none" normalizeH="0" baseline="0" dirty="0">
                <a:ln>
                  <a:noFill/>
                </a:ln>
                <a:solidFill>
                  <a:schemeClr val="accent1">
                    <a:lumMod val="50000"/>
                  </a:schemeClr>
                </a:solidFill>
                <a:effectLst/>
                <a:latin typeface="Arial" panose="020B0604020202020204" pitchFamily="34" charset="0"/>
              </a:rPr>
              <a:t> – </a:t>
            </a:r>
            <a:r>
              <a:rPr kumimoji="0" lang="en-US" altLang="en-US" b="0" i="1" u="none" strike="noStrike" cap="none" normalizeH="0" baseline="0" dirty="0">
                <a:ln>
                  <a:noFill/>
                </a:ln>
                <a:solidFill>
                  <a:schemeClr val="accent1">
                    <a:lumMod val="50000"/>
                  </a:schemeClr>
                </a:solidFill>
                <a:effectLst/>
                <a:latin typeface="Arial" panose="020B0604020202020204" pitchFamily="34" charset="0"/>
              </a:rPr>
              <a:t>(Villain room, no item)</a:t>
            </a:r>
            <a:endParaRPr kumimoji="0" lang="en-US" altLang="en-US" b="0" i="0" u="none" strike="noStrike" cap="none" normalizeH="0" baseline="0" dirty="0">
              <a:ln>
                <a:noFill/>
              </a:ln>
              <a:solidFill>
                <a:schemeClr val="accent1">
                  <a:lumMod val="5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accent1">
                    <a:lumMod val="50000"/>
                  </a:schemeClr>
                </a:solidFill>
                <a:effectLst/>
                <a:latin typeface="Arial" panose="020B0604020202020204" pitchFamily="34" charset="0"/>
              </a:rPr>
              <a:t>Description: The heart of the forest—twisted roots, bone-like trees, and a cold, glowing center.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accent1">
                    <a:lumMod val="50000"/>
                  </a:schemeClr>
                </a:solidFill>
                <a:effectLst/>
                <a:latin typeface="Arial" panose="020B0604020202020204" pitchFamily="34" charset="0"/>
              </a:rPr>
              <a:t>Exits: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accent1">
                    <a:lumMod val="50000"/>
                  </a:schemeClr>
                </a:solidFill>
                <a:effectLst/>
                <a:latin typeface="Arial" panose="020B0604020202020204" pitchFamily="34" charset="0"/>
              </a:rPr>
              <a:t>South → Umbral Crossing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23975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7315200" cy="914400"/>
          </a:xfrm>
          <a:prstGeom prst="rect">
            <a:avLst/>
          </a:prstGeom>
          <a:noFill/>
        </p:spPr>
        <p:txBody>
          <a:bodyPr wrap="none">
            <a:spAutoFit/>
          </a:bodyPr>
          <a:lstStyle/>
          <a:p>
            <a:pPr>
              <a:defRPr sz="3400" b="1">
                <a:solidFill>
                  <a:srgbClr val="78C878"/>
                </a:solidFill>
              </a:defRPr>
            </a:pPr>
            <a:r>
              <a:t>Map Layout</a:t>
            </a:r>
          </a:p>
        </p:txBody>
      </p:sp>
      <p:sp>
        <p:nvSpPr>
          <p:cNvPr id="3" name="Rounded Rectangle 2"/>
          <p:cNvSpPr/>
          <p:nvPr/>
        </p:nvSpPr>
        <p:spPr>
          <a:xfrm>
            <a:off x="3368353" y="5638489"/>
            <a:ext cx="2743200" cy="914400"/>
          </a:xfrm>
          <a:prstGeom prst="roundRect">
            <a:avLst/>
          </a:prstGeom>
          <a:solidFill>
            <a:srgbClr val="3C6446"/>
          </a:solidFill>
          <a:ln>
            <a:solidFill>
              <a:srgbClr val="78C878"/>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EBEBEB"/>
                </a:solidFill>
              </a:defRPr>
            </a:pPr>
            <a:r>
              <a:t>Forest Entrance</a:t>
            </a:r>
          </a:p>
          <a:p>
            <a:r>
              <a:t>(Start)</a:t>
            </a:r>
          </a:p>
        </p:txBody>
      </p:sp>
      <p:sp>
        <p:nvSpPr>
          <p:cNvPr id="4" name="Rounded Rectangle 3"/>
          <p:cNvSpPr/>
          <p:nvPr/>
        </p:nvSpPr>
        <p:spPr>
          <a:xfrm>
            <a:off x="3368353" y="4358329"/>
            <a:ext cx="2743200" cy="914400"/>
          </a:xfrm>
          <a:prstGeom prst="roundRect">
            <a:avLst/>
          </a:prstGeom>
          <a:solidFill>
            <a:srgbClr val="3C6446"/>
          </a:solidFill>
          <a:ln>
            <a:solidFill>
              <a:srgbClr val="78C878"/>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EBEBEB"/>
                </a:solidFill>
              </a:defRPr>
            </a:pPr>
            <a:r>
              <a:t>Whispering Grove</a:t>
            </a:r>
          </a:p>
          <a:p>
            <a:r>
              <a:t>(Silver Whistle)</a:t>
            </a:r>
          </a:p>
        </p:txBody>
      </p:sp>
      <p:sp>
        <p:nvSpPr>
          <p:cNvPr id="5" name="Rounded Rectangle 4"/>
          <p:cNvSpPr/>
          <p:nvPr/>
        </p:nvSpPr>
        <p:spPr>
          <a:xfrm>
            <a:off x="289249" y="4389120"/>
            <a:ext cx="2743200" cy="914400"/>
          </a:xfrm>
          <a:prstGeom prst="roundRect">
            <a:avLst/>
          </a:prstGeom>
          <a:solidFill>
            <a:srgbClr val="3C6446"/>
          </a:solidFill>
          <a:ln>
            <a:solidFill>
              <a:srgbClr val="78C878"/>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EBEBEB"/>
                </a:solidFill>
              </a:defRPr>
            </a:pPr>
            <a:r>
              <a:t>Crystal Pond</a:t>
            </a:r>
          </a:p>
          <a:p>
            <a:r>
              <a:t>(Moonstone Lantern)</a:t>
            </a:r>
          </a:p>
        </p:txBody>
      </p:sp>
      <p:sp>
        <p:nvSpPr>
          <p:cNvPr id="6" name="Rounded Rectangle 5"/>
          <p:cNvSpPr/>
          <p:nvPr/>
        </p:nvSpPr>
        <p:spPr>
          <a:xfrm>
            <a:off x="3345024" y="3200400"/>
            <a:ext cx="2743200" cy="914400"/>
          </a:xfrm>
          <a:prstGeom prst="roundRect">
            <a:avLst/>
          </a:prstGeom>
          <a:solidFill>
            <a:srgbClr val="3C6446"/>
          </a:solidFill>
          <a:ln>
            <a:solidFill>
              <a:srgbClr val="78C878"/>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EBEBEB"/>
                </a:solidFill>
              </a:defRPr>
            </a:pPr>
            <a:r>
              <a:t>Ancient Oak Hollow</a:t>
            </a:r>
          </a:p>
          <a:p>
            <a:r>
              <a:t>(Enchanted Vines)</a:t>
            </a:r>
          </a:p>
        </p:txBody>
      </p:sp>
      <p:sp>
        <p:nvSpPr>
          <p:cNvPr id="7" name="Rounded Rectangle 6"/>
          <p:cNvSpPr/>
          <p:nvPr/>
        </p:nvSpPr>
        <p:spPr>
          <a:xfrm>
            <a:off x="289249" y="3200400"/>
            <a:ext cx="2743200" cy="914400"/>
          </a:xfrm>
          <a:prstGeom prst="roundRect">
            <a:avLst/>
          </a:prstGeom>
          <a:solidFill>
            <a:srgbClr val="3C6446"/>
          </a:solidFill>
          <a:ln>
            <a:solidFill>
              <a:srgbClr val="78C878"/>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EBEBEB"/>
                </a:solidFill>
              </a:defRPr>
            </a:pPr>
            <a:r>
              <a:t>Moonlit Ruins</a:t>
            </a:r>
          </a:p>
          <a:p>
            <a:r>
              <a:t>(Crystal Feather)</a:t>
            </a:r>
          </a:p>
        </p:txBody>
      </p:sp>
      <p:sp>
        <p:nvSpPr>
          <p:cNvPr id="8" name="Rounded Rectangle 7"/>
          <p:cNvSpPr/>
          <p:nvPr/>
        </p:nvSpPr>
        <p:spPr>
          <a:xfrm>
            <a:off x="3200400" y="2011680"/>
            <a:ext cx="2743200" cy="914400"/>
          </a:xfrm>
          <a:prstGeom prst="roundRect">
            <a:avLst/>
          </a:prstGeom>
          <a:solidFill>
            <a:srgbClr val="3C6446"/>
          </a:solidFill>
          <a:ln>
            <a:solidFill>
              <a:srgbClr val="78C878"/>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EBEBEB"/>
                </a:solidFill>
              </a:defRPr>
            </a:pPr>
            <a:r>
              <a:t>Thorn Maze</a:t>
            </a:r>
          </a:p>
          <a:p>
            <a:r>
              <a:t>(Forest Charm)</a:t>
            </a:r>
          </a:p>
        </p:txBody>
      </p:sp>
      <p:sp>
        <p:nvSpPr>
          <p:cNvPr id="9" name="Rounded Rectangle 8"/>
          <p:cNvSpPr/>
          <p:nvPr/>
        </p:nvSpPr>
        <p:spPr>
          <a:xfrm>
            <a:off x="3200400" y="883609"/>
            <a:ext cx="2743200" cy="914400"/>
          </a:xfrm>
          <a:prstGeom prst="roundRect">
            <a:avLst/>
          </a:prstGeom>
          <a:solidFill>
            <a:srgbClr val="3C6446"/>
          </a:solidFill>
          <a:ln>
            <a:solidFill>
              <a:srgbClr val="78C878"/>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EBEBEB"/>
                </a:solidFill>
              </a:defRPr>
            </a:pPr>
            <a:r>
              <a:t>Skybridge Cliff</a:t>
            </a:r>
          </a:p>
          <a:p>
            <a:r>
              <a:t>(Mirror of Truth)</a:t>
            </a:r>
          </a:p>
        </p:txBody>
      </p:sp>
      <p:sp>
        <p:nvSpPr>
          <p:cNvPr id="10" name="Rounded Rectangle 9"/>
          <p:cNvSpPr/>
          <p:nvPr/>
        </p:nvSpPr>
        <p:spPr>
          <a:xfrm>
            <a:off x="6400800" y="3200400"/>
            <a:ext cx="2743200" cy="914400"/>
          </a:xfrm>
          <a:prstGeom prst="roundRect">
            <a:avLst/>
          </a:prstGeom>
          <a:solidFill>
            <a:srgbClr val="3C6446"/>
          </a:solidFill>
          <a:ln>
            <a:solidFill>
              <a:srgbClr val="78C878"/>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EBEBEB"/>
                </a:solidFill>
              </a:defRPr>
            </a:pPr>
            <a:r>
              <a:t>Echo Cavern</a:t>
            </a:r>
          </a:p>
          <a:p>
            <a:r>
              <a:t>(Spirit Chime)</a:t>
            </a:r>
          </a:p>
        </p:txBody>
      </p:sp>
      <p:sp>
        <p:nvSpPr>
          <p:cNvPr id="11" name="Rounded Rectangle 10"/>
          <p:cNvSpPr/>
          <p:nvPr/>
        </p:nvSpPr>
        <p:spPr>
          <a:xfrm>
            <a:off x="6400800" y="4389120"/>
            <a:ext cx="2743200" cy="914400"/>
          </a:xfrm>
          <a:prstGeom prst="roundRect">
            <a:avLst/>
          </a:prstGeom>
          <a:solidFill>
            <a:srgbClr val="3C6446"/>
          </a:solidFill>
          <a:ln>
            <a:solidFill>
              <a:srgbClr val="78C878"/>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EBEBEB"/>
                </a:solidFill>
              </a:defRPr>
            </a:pPr>
            <a:r>
              <a:t>Shimmering Marsh</a:t>
            </a:r>
          </a:p>
          <a:p>
            <a:r>
              <a:t>(Glimmer Reed)</a:t>
            </a:r>
          </a:p>
        </p:txBody>
      </p:sp>
      <p:sp>
        <p:nvSpPr>
          <p:cNvPr id="12" name="Rounded Rectangle 11"/>
          <p:cNvSpPr/>
          <p:nvPr/>
        </p:nvSpPr>
        <p:spPr>
          <a:xfrm>
            <a:off x="6400800" y="2011680"/>
            <a:ext cx="2743200" cy="914400"/>
          </a:xfrm>
          <a:prstGeom prst="roundRect">
            <a:avLst/>
          </a:prstGeom>
          <a:solidFill>
            <a:srgbClr val="3C6446"/>
          </a:solidFill>
          <a:ln>
            <a:solidFill>
              <a:srgbClr val="78C878"/>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EBEBEB"/>
                </a:solidFill>
              </a:defRPr>
            </a:pPr>
            <a:r>
              <a:t>Umbral Crossing</a:t>
            </a:r>
          </a:p>
          <a:p>
            <a:r>
              <a:t>(Shadow Petal)</a:t>
            </a:r>
          </a:p>
        </p:txBody>
      </p:sp>
      <p:sp>
        <p:nvSpPr>
          <p:cNvPr id="13" name="Rounded Rectangle 12"/>
          <p:cNvSpPr/>
          <p:nvPr/>
        </p:nvSpPr>
        <p:spPr>
          <a:xfrm>
            <a:off x="6400800" y="914400"/>
            <a:ext cx="2743200" cy="914400"/>
          </a:xfrm>
          <a:prstGeom prst="roundRect">
            <a:avLst/>
          </a:prstGeom>
          <a:solidFill>
            <a:srgbClr val="3C6446"/>
          </a:solidFill>
          <a:ln>
            <a:solidFill>
              <a:srgbClr val="78C878"/>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EBEBEB"/>
                </a:solidFill>
              </a:defRPr>
            </a:pPr>
            <a:r>
              <a:t>Beast’s Lair</a:t>
            </a:r>
          </a:p>
          <a:p>
            <a:r>
              <a:t>(Villain)</a:t>
            </a:r>
          </a:p>
        </p:txBody>
      </p:sp>
      <p:cxnSp>
        <p:nvCxnSpPr>
          <p:cNvPr id="15" name="Straight Arrow Connector 14">
            <a:extLst>
              <a:ext uri="{FF2B5EF4-FFF2-40B4-BE49-F238E27FC236}">
                <a16:creationId xmlns:a16="http://schemas.microsoft.com/office/drawing/2014/main" id="{9C60E5D1-E78D-01B9-EFD8-ECA244424212}"/>
              </a:ext>
            </a:extLst>
          </p:cNvPr>
          <p:cNvCxnSpPr/>
          <p:nvPr/>
        </p:nvCxnSpPr>
        <p:spPr>
          <a:xfrm>
            <a:off x="4833257" y="1679510"/>
            <a:ext cx="0" cy="5878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672AF51D-054E-951F-0AB5-F275EFB90BCA}"/>
              </a:ext>
            </a:extLst>
          </p:cNvPr>
          <p:cNvCxnSpPr/>
          <p:nvPr/>
        </p:nvCxnSpPr>
        <p:spPr>
          <a:xfrm>
            <a:off x="5840963" y="1474237"/>
            <a:ext cx="68113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D4312AAD-4C57-DC99-4784-E56FCFBFA640}"/>
              </a:ext>
            </a:extLst>
          </p:cNvPr>
          <p:cNvCxnSpPr/>
          <p:nvPr/>
        </p:nvCxnSpPr>
        <p:spPr>
          <a:xfrm>
            <a:off x="5029200" y="2845837"/>
            <a:ext cx="0" cy="5831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5835EF63-A737-FB3A-1643-2D2AA388E2D8}"/>
              </a:ext>
            </a:extLst>
          </p:cNvPr>
          <p:cNvCxnSpPr/>
          <p:nvPr/>
        </p:nvCxnSpPr>
        <p:spPr>
          <a:xfrm>
            <a:off x="5943600" y="2659224"/>
            <a:ext cx="57849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8E3B9000-6178-84B3-EFE8-B88B59A1C70F}"/>
              </a:ext>
            </a:extLst>
          </p:cNvPr>
          <p:cNvCxnSpPr>
            <a:stCxn id="6" idx="1"/>
          </p:cNvCxnSpPr>
          <p:nvPr/>
        </p:nvCxnSpPr>
        <p:spPr>
          <a:xfrm flipH="1">
            <a:off x="2733869" y="3657600"/>
            <a:ext cx="611155" cy="653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3D1792C2-7783-B05E-33E0-19E50AD68784}"/>
              </a:ext>
            </a:extLst>
          </p:cNvPr>
          <p:cNvCxnSpPr/>
          <p:nvPr/>
        </p:nvCxnSpPr>
        <p:spPr>
          <a:xfrm>
            <a:off x="5943600" y="3956180"/>
            <a:ext cx="653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6B077AF1-47B4-8CE4-5CA0-B24DA4BEC681}"/>
              </a:ext>
            </a:extLst>
          </p:cNvPr>
          <p:cNvCxnSpPr/>
          <p:nvPr/>
        </p:nvCxnSpPr>
        <p:spPr>
          <a:xfrm>
            <a:off x="5029200" y="4114800"/>
            <a:ext cx="0" cy="3732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28256482-3D92-4C14-E3E9-E9D10071FF24}"/>
              </a:ext>
            </a:extLst>
          </p:cNvPr>
          <p:cNvCxnSpPr/>
          <p:nvPr/>
        </p:nvCxnSpPr>
        <p:spPr>
          <a:xfrm flipH="1">
            <a:off x="2733869" y="4693298"/>
            <a:ext cx="75578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54DF2F75-6460-1B99-0AE7-1B6609E1AC92}"/>
              </a:ext>
            </a:extLst>
          </p:cNvPr>
          <p:cNvCxnSpPr/>
          <p:nvPr/>
        </p:nvCxnSpPr>
        <p:spPr>
          <a:xfrm>
            <a:off x="5943600" y="5038531"/>
            <a:ext cx="57849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2B5EC586-61C2-BC25-D2C5-2236E7E76B73}"/>
              </a:ext>
            </a:extLst>
          </p:cNvPr>
          <p:cNvCxnSpPr/>
          <p:nvPr/>
        </p:nvCxnSpPr>
        <p:spPr>
          <a:xfrm>
            <a:off x="4478694" y="5197151"/>
            <a:ext cx="0" cy="5691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702EF214-B007-4771-8985-A3041E8F6E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42" name="Straight Connector 41">
              <a:extLst>
                <a:ext uri="{FF2B5EF4-FFF2-40B4-BE49-F238E27FC236}">
                  <a16:creationId xmlns:a16="http://schemas.microsoft.com/office/drawing/2014/main" id="{E2BF9CC7-88C9-4BDF-845E-2BB24ADD063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5B3BDFA9-3CAC-42FD-97D5-4F4FEF5E467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44" name="Rectangle 23">
              <a:extLst>
                <a:ext uri="{FF2B5EF4-FFF2-40B4-BE49-F238E27FC236}">
                  <a16:creationId xmlns:a16="http://schemas.microsoft.com/office/drawing/2014/main" id="{CB4B9049-A2D4-40FE-A49C-70450D125F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5" name="Rectangle 25">
              <a:extLst>
                <a:ext uri="{FF2B5EF4-FFF2-40B4-BE49-F238E27FC236}">
                  <a16:creationId xmlns:a16="http://schemas.microsoft.com/office/drawing/2014/main" id="{43DE6DC5-6433-482B-970E-3FCDDA394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6" name="Isosceles Triangle 45">
              <a:extLst>
                <a:ext uri="{FF2B5EF4-FFF2-40B4-BE49-F238E27FC236}">
                  <a16:creationId xmlns:a16="http://schemas.microsoft.com/office/drawing/2014/main" id="{5C409EFF-FE08-4B90-9C93-B11960F26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7" name="Rectangle 27">
              <a:extLst>
                <a:ext uri="{FF2B5EF4-FFF2-40B4-BE49-F238E27FC236}">
                  <a16:creationId xmlns:a16="http://schemas.microsoft.com/office/drawing/2014/main" id="{9B247D5D-6A57-4E15-B30F-EF614BEA0C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8" name="Rectangle 28">
              <a:extLst>
                <a:ext uri="{FF2B5EF4-FFF2-40B4-BE49-F238E27FC236}">
                  <a16:creationId xmlns:a16="http://schemas.microsoft.com/office/drawing/2014/main" id="{B3DE0615-51F9-4436-BC6F-8B37603C0A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Rectangle 29">
              <a:extLst>
                <a:ext uri="{FF2B5EF4-FFF2-40B4-BE49-F238E27FC236}">
                  <a16:creationId xmlns:a16="http://schemas.microsoft.com/office/drawing/2014/main" id="{687DCF6E-0DB3-4AB1-9CD0-A726BDAE3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Isosceles Triangle 49">
              <a:extLst>
                <a:ext uri="{FF2B5EF4-FFF2-40B4-BE49-F238E27FC236}">
                  <a16:creationId xmlns:a16="http://schemas.microsoft.com/office/drawing/2014/main" id="{1230C3CB-B359-4E08-8158-239721515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 name="Isosceles Triangle 50">
              <a:extLst>
                <a:ext uri="{FF2B5EF4-FFF2-40B4-BE49-F238E27FC236}">
                  <a16:creationId xmlns:a16="http://schemas.microsoft.com/office/drawing/2014/main" id="{1C28B691-36C0-43DF-BA92-BBDFA8451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extBox 1"/>
          <p:cNvSpPr txBox="1"/>
          <p:nvPr/>
        </p:nvSpPr>
        <p:spPr>
          <a:xfrm>
            <a:off x="185310" y="609600"/>
            <a:ext cx="2526541" cy="5431762"/>
          </a:xfrm>
          <a:prstGeom prst="rect">
            <a:avLst/>
          </a:prstGeom>
        </p:spPr>
        <p:txBody>
          <a:bodyPr vert="horz" lIns="91440" tIns="45720" rIns="91440" bIns="45720" rtlCol="0" anchor="ctr">
            <a:normAutofit/>
          </a:bodyPr>
          <a:lstStyle/>
          <a:p>
            <a:pPr>
              <a:spcBef>
                <a:spcPct val="0"/>
              </a:spcBef>
              <a:spcAft>
                <a:spcPts val="600"/>
              </a:spcAft>
              <a:defRPr sz="3400" b="1">
                <a:solidFill>
                  <a:srgbClr val="78C878"/>
                </a:solidFill>
              </a:defRPr>
            </a:pPr>
            <a:r>
              <a:rPr lang="en-US" sz="3600" dirty="0">
                <a:solidFill>
                  <a:schemeClr val="accent1"/>
                </a:solidFill>
                <a:latin typeface="+mj-lt"/>
                <a:ea typeface="+mj-ea"/>
                <a:cs typeface="+mj-cs"/>
              </a:rPr>
              <a:t>Flowchart: Movement Logic</a:t>
            </a:r>
          </a:p>
        </p:txBody>
      </p:sp>
      <p:sp>
        <p:nvSpPr>
          <p:cNvPr id="4" name="Rectangle 1">
            <a:extLst>
              <a:ext uri="{FF2B5EF4-FFF2-40B4-BE49-F238E27FC236}">
                <a16:creationId xmlns:a16="http://schemas.microsoft.com/office/drawing/2014/main" id="{205558D9-3BE5-2E30-8112-25DC8E208D43}"/>
              </a:ext>
            </a:extLst>
          </p:cNvPr>
          <p:cNvSpPr>
            <a:spLocks noChangeArrowheads="1"/>
          </p:cNvSpPr>
          <p:nvPr/>
        </p:nvSpPr>
        <p:spPr bwMode="auto">
          <a:xfrm>
            <a:off x="3068507" y="329684"/>
            <a:ext cx="5750834" cy="529667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fontScale="25000" lnSpcReduction="20000"/>
          </a:bodyPr>
          <a:lstStyle/>
          <a:p>
            <a:pPr marL="0" marR="0" lvl="0" indent="0" fontAlgn="base">
              <a:lnSpc>
                <a:spcPct val="90000"/>
              </a:lnSpc>
              <a:spcBef>
                <a:spcPts val="1000"/>
              </a:spcBef>
              <a:buClr>
                <a:schemeClr val="accent1"/>
              </a:buClr>
              <a:buSzPct val="80000"/>
              <a:buFont typeface="Wingdings 3" charset="2"/>
              <a:buChar char=""/>
              <a:tabLst/>
            </a:pPr>
            <a:r>
              <a:rPr kumimoji="0" lang="en-US" altLang="en-US" sz="5600" b="1" i="0" u="none" strike="noStrike" cap="none" normalizeH="0" baseline="0" dirty="0">
                <a:ln>
                  <a:noFill/>
                </a:ln>
                <a:solidFill>
                  <a:schemeClr val="tx1">
                    <a:lumMod val="75000"/>
                    <a:lumOff val="25000"/>
                  </a:schemeClr>
                </a:solidFill>
                <a:effectLst/>
              </a:rPr>
              <a:t>Start</a:t>
            </a:r>
            <a:br>
              <a:rPr kumimoji="0" lang="en-US" altLang="en-US" sz="5600" b="0" i="0" u="none" strike="noStrike" cap="none" normalizeH="0" baseline="0" dirty="0">
                <a:ln>
                  <a:noFill/>
                </a:ln>
                <a:solidFill>
                  <a:schemeClr val="tx1">
                    <a:lumMod val="75000"/>
                    <a:lumOff val="25000"/>
                  </a:schemeClr>
                </a:solidFill>
                <a:effectLst/>
              </a:rPr>
            </a:br>
            <a:r>
              <a:rPr kumimoji="0" lang="en-US" altLang="en-US" sz="5600" b="0" i="0" u="none" strike="noStrike" cap="none" normalizeH="0" baseline="0" dirty="0">
                <a:ln>
                  <a:noFill/>
                </a:ln>
                <a:solidFill>
                  <a:schemeClr val="tx1">
                    <a:lumMod val="75000"/>
                    <a:lumOff val="25000"/>
                  </a:schemeClr>
                </a:solidFill>
                <a:effectLst/>
              </a:rPr>
              <a:t>↓</a:t>
            </a:r>
          </a:p>
          <a:p>
            <a:pPr marL="0" marR="0" lvl="0" indent="0" fontAlgn="base">
              <a:lnSpc>
                <a:spcPct val="90000"/>
              </a:lnSpc>
              <a:spcBef>
                <a:spcPts val="1000"/>
              </a:spcBef>
              <a:buClr>
                <a:schemeClr val="accent1"/>
              </a:buClr>
              <a:buSzPct val="80000"/>
              <a:buFont typeface="Wingdings 3" charset="2"/>
              <a:buChar char=""/>
              <a:tabLst/>
            </a:pPr>
            <a:r>
              <a:rPr kumimoji="0" lang="en-US" altLang="en-US" sz="5600" b="0" i="0" u="none" strike="noStrike" cap="none" normalizeH="0" baseline="0" dirty="0">
                <a:ln>
                  <a:noFill/>
                </a:ln>
                <a:solidFill>
                  <a:schemeClr val="tx1">
                    <a:lumMod val="75000"/>
                    <a:lumOff val="25000"/>
                  </a:schemeClr>
                </a:solidFill>
                <a:effectLst/>
              </a:rPr>
              <a:t>Set </a:t>
            </a:r>
            <a:r>
              <a:rPr kumimoji="0" lang="en-US" altLang="en-US" sz="5600" b="0" i="0" u="none" strike="noStrike" cap="none" normalizeH="0" baseline="0" dirty="0" err="1">
                <a:ln>
                  <a:noFill/>
                </a:ln>
                <a:solidFill>
                  <a:schemeClr val="tx1">
                    <a:lumMod val="75000"/>
                    <a:lumOff val="25000"/>
                  </a:schemeClr>
                </a:solidFill>
                <a:effectLst/>
              </a:rPr>
              <a:t>current_room</a:t>
            </a:r>
            <a:r>
              <a:rPr kumimoji="0" lang="en-US" altLang="en-US" sz="5600" b="0" i="0" u="none" strike="noStrike" cap="none" normalizeH="0" baseline="0" dirty="0">
                <a:ln>
                  <a:noFill/>
                </a:ln>
                <a:solidFill>
                  <a:schemeClr val="tx1">
                    <a:lumMod val="75000"/>
                    <a:lumOff val="25000"/>
                  </a:schemeClr>
                </a:solidFill>
                <a:effectLst/>
              </a:rPr>
              <a:t> = "Forest Entrance"</a:t>
            </a:r>
          </a:p>
          <a:p>
            <a:pPr marL="0" marR="0" lvl="0" indent="0" fontAlgn="base">
              <a:lnSpc>
                <a:spcPct val="90000"/>
              </a:lnSpc>
              <a:spcBef>
                <a:spcPts val="1000"/>
              </a:spcBef>
              <a:buClr>
                <a:schemeClr val="accent1"/>
              </a:buClr>
              <a:buSzPct val="80000"/>
              <a:buFont typeface="Wingdings 3" charset="2"/>
              <a:buChar char=""/>
              <a:tabLst/>
            </a:pPr>
            <a:r>
              <a:rPr kumimoji="0" lang="en-US" altLang="en-US" sz="5600" b="0" i="0" u="none" strike="noStrike" cap="none" normalizeH="0" baseline="0" dirty="0">
                <a:ln>
                  <a:noFill/>
                </a:ln>
                <a:solidFill>
                  <a:schemeClr val="tx1">
                    <a:lumMod val="75000"/>
                    <a:lumOff val="25000"/>
                  </a:schemeClr>
                </a:solidFill>
                <a:effectLst/>
              </a:rPr>
              <a:t>Set inventory = empty list</a:t>
            </a:r>
          </a:p>
          <a:p>
            <a:pPr marL="0" marR="0" lvl="0" indent="0" fontAlgn="base">
              <a:lnSpc>
                <a:spcPct val="90000"/>
              </a:lnSpc>
              <a:spcBef>
                <a:spcPts val="1000"/>
              </a:spcBef>
              <a:buClr>
                <a:schemeClr val="accent1"/>
              </a:buClr>
              <a:buSzPct val="80000"/>
              <a:buFont typeface="Wingdings 3" charset="2"/>
              <a:buChar char=""/>
              <a:tabLst/>
            </a:pPr>
            <a:r>
              <a:rPr kumimoji="0" lang="en-US" altLang="en-US" sz="5600" b="0" i="0" u="none" strike="noStrike" cap="none" normalizeH="0" baseline="0" dirty="0">
                <a:ln>
                  <a:noFill/>
                </a:ln>
                <a:solidFill>
                  <a:schemeClr val="tx1">
                    <a:lumMod val="75000"/>
                    <a:lumOff val="25000"/>
                  </a:schemeClr>
                </a:solidFill>
                <a:effectLst/>
              </a:rPr>
              <a:t>Set </a:t>
            </a:r>
            <a:r>
              <a:rPr kumimoji="0" lang="en-US" altLang="en-US" sz="5600" b="0" i="0" u="none" strike="noStrike" cap="none" normalizeH="0" baseline="0" dirty="0" err="1">
                <a:ln>
                  <a:noFill/>
                </a:ln>
                <a:solidFill>
                  <a:schemeClr val="tx1">
                    <a:lumMod val="75000"/>
                    <a:lumOff val="25000"/>
                  </a:schemeClr>
                </a:solidFill>
                <a:effectLst/>
              </a:rPr>
              <a:t>game_over</a:t>
            </a:r>
            <a:r>
              <a:rPr kumimoji="0" lang="en-US" altLang="en-US" sz="5600" b="0" i="0" u="none" strike="noStrike" cap="none" normalizeH="0" baseline="0" dirty="0">
                <a:ln>
                  <a:noFill/>
                </a:ln>
                <a:solidFill>
                  <a:schemeClr val="tx1">
                    <a:lumMod val="75000"/>
                    <a:lumOff val="25000"/>
                  </a:schemeClr>
                </a:solidFill>
                <a:effectLst/>
              </a:rPr>
              <a:t> = False</a:t>
            </a:r>
          </a:p>
          <a:p>
            <a:pPr marL="0" marR="0" lvl="0" indent="0" fontAlgn="base">
              <a:lnSpc>
                <a:spcPct val="90000"/>
              </a:lnSpc>
              <a:spcBef>
                <a:spcPts val="1000"/>
              </a:spcBef>
              <a:buClr>
                <a:schemeClr val="accent1"/>
              </a:buClr>
              <a:buSzPct val="80000"/>
              <a:buFont typeface="Wingdings 3" charset="2"/>
              <a:buChar char=""/>
              <a:tabLst/>
            </a:pPr>
            <a:r>
              <a:rPr kumimoji="0" lang="en-US" altLang="en-US" sz="5600" b="1" i="0" u="none" strike="noStrike" cap="none" normalizeH="0" baseline="0" dirty="0">
                <a:ln>
                  <a:noFill/>
                </a:ln>
                <a:solidFill>
                  <a:schemeClr val="tx1">
                    <a:lumMod val="75000"/>
                    <a:lumOff val="25000"/>
                  </a:schemeClr>
                </a:solidFill>
                <a:effectLst/>
              </a:rPr>
              <a:t>Loop while </a:t>
            </a:r>
            <a:r>
              <a:rPr kumimoji="0" lang="en-US" altLang="en-US" sz="5600" b="1" i="0" u="none" strike="noStrike" cap="none" normalizeH="0" baseline="0" dirty="0" err="1">
                <a:ln>
                  <a:noFill/>
                </a:ln>
                <a:solidFill>
                  <a:schemeClr val="tx1">
                    <a:lumMod val="75000"/>
                    <a:lumOff val="25000"/>
                  </a:schemeClr>
                </a:solidFill>
                <a:effectLst/>
              </a:rPr>
              <a:t>game_over</a:t>
            </a:r>
            <a:r>
              <a:rPr kumimoji="0" lang="en-US" altLang="en-US" sz="5600" b="1" i="0" u="none" strike="noStrike" cap="none" normalizeH="0" baseline="0" dirty="0">
                <a:ln>
                  <a:noFill/>
                </a:ln>
                <a:solidFill>
                  <a:schemeClr val="tx1">
                    <a:lumMod val="75000"/>
                    <a:lumOff val="25000"/>
                  </a:schemeClr>
                </a:solidFill>
                <a:effectLst/>
              </a:rPr>
              <a:t> is False:</a:t>
            </a:r>
            <a:endParaRPr kumimoji="0" lang="en-US" altLang="en-US" sz="5600" b="0" i="0" u="none" strike="noStrike" cap="none" normalizeH="0" baseline="0" dirty="0">
              <a:ln>
                <a:noFill/>
              </a:ln>
              <a:solidFill>
                <a:schemeClr val="tx1">
                  <a:lumMod val="75000"/>
                  <a:lumOff val="25000"/>
                </a:schemeClr>
              </a:solidFill>
              <a:effectLst/>
            </a:endParaRPr>
          </a:p>
          <a:p>
            <a:pPr marL="0" marR="0" lvl="0" indent="0" fontAlgn="base">
              <a:lnSpc>
                <a:spcPct val="90000"/>
              </a:lnSpc>
              <a:spcBef>
                <a:spcPts val="1000"/>
              </a:spcBef>
              <a:buClr>
                <a:schemeClr val="accent1"/>
              </a:buClr>
              <a:buSzPct val="80000"/>
              <a:buFont typeface="Wingdings 3" charset="2"/>
              <a:buChar char=""/>
              <a:tabLst/>
            </a:pPr>
            <a:r>
              <a:rPr kumimoji="0" lang="en-US" altLang="en-US" sz="5600" b="0" i="0" u="none" strike="noStrike" cap="none" normalizeH="0" baseline="0" dirty="0">
                <a:ln>
                  <a:noFill/>
                </a:ln>
                <a:solidFill>
                  <a:schemeClr val="tx1">
                    <a:lumMod val="75000"/>
                    <a:lumOff val="25000"/>
                  </a:schemeClr>
                </a:solidFill>
                <a:effectLst/>
              </a:rPr>
              <a:t>Display: current room name and list of items collected</a:t>
            </a:r>
          </a:p>
          <a:p>
            <a:pPr marL="0" marR="0" lvl="0" indent="0" fontAlgn="base">
              <a:lnSpc>
                <a:spcPct val="90000"/>
              </a:lnSpc>
              <a:spcBef>
                <a:spcPts val="1000"/>
              </a:spcBef>
              <a:buClr>
                <a:schemeClr val="accent1"/>
              </a:buClr>
              <a:buSzPct val="80000"/>
              <a:buFont typeface="Wingdings 3" charset="2"/>
              <a:buChar char=""/>
              <a:tabLst/>
            </a:pPr>
            <a:r>
              <a:rPr kumimoji="0" lang="en-US" altLang="en-US" sz="5600" b="0" i="0" u="none" strike="noStrike" cap="none" normalizeH="0" baseline="0" dirty="0">
                <a:ln>
                  <a:noFill/>
                </a:ln>
                <a:solidFill>
                  <a:schemeClr val="tx1">
                    <a:lumMod val="75000"/>
                    <a:lumOff val="25000"/>
                  </a:schemeClr>
                </a:solidFill>
                <a:effectLst/>
              </a:rPr>
              <a:t>Prompt player:</a:t>
            </a:r>
          </a:p>
          <a:p>
            <a:pPr marL="457200" marR="0" lvl="1" indent="0" fontAlgn="base">
              <a:lnSpc>
                <a:spcPct val="90000"/>
              </a:lnSpc>
              <a:spcBef>
                <a:spcPts val="1000"/>
              </a:spcBef>
              <a:buClr>
                <a:schemeClr val="accent1"/>
              </a:buClr>
              <a:buSzPct val="80000"/>
              <a:buFont typeface="Wingdings 3" charset="2"/>
              <a:buChar char=""/>
              <a:tabLst/>
            </a:pPr>
            <a:r>
              <a:rPr kumimoji="0" lang="en-US" altLang="en-US" sz="5600" b="0" i="0" u="none" strike="noStrike" cap="none" normalizeH="0" baseline="0" dirty="0">
                <a:ln>
                  <a:noFill/>
                </a:ln>
                <a:solidFill>
                  <a:schemeClr val="tx1">
                    <a:lumMod val="75000"/>
                    <a:lumOff val="25000"/>
                  </a:schemeClr>
                </a:solidFill>
                <a:effectLst/>
              </a:rPr>
              <a:t>“Enter a command (e.g., go North, go South, get, or quit): ”</a:t>
            </a:r>
          </a:p>
          <a:p>
            <a:pPr marL="0" marR="0" lvl="0" indent="0" fontAlgn="base">
              <a:lnSpc>
                <a:spcPct val="90000"/>
              </a:lnSpc>
              <a:spcBef>
                <a:spcPts val="1000"/>
              </a:spcBef>
              <a:buClr>
                <a:schemeClr val="accent1"/>
              </a:buClr>
              <a:buSzPct val="80000"/>
              <a:buFont typeface="Wingdings 3" charset="2"/>
              <a:buChar char=""/>
              <a:tabLst/>
            </a:pPr>
            <a:r>
              <a:rPr kumimoji="0" lang="en-US" altLang="en-US" sz="5600" b="0" i="0" u="none" strike="noStrike" cap="none" normalizeH="0" baseline="0" dirty="0">
                <a:ln>
                  <a:noFill/>
                </a:ln>
                <a:solidFill>
                  <a:schemeClr val="tx1">
                    <a:lumMod val="75000"/>
                    <a:lumOff val="25000"/>
                  </a:schemeClr>
                </a:solidFill>
                <a:effectLst/>
              </a:rPr>
              <a:t>Get </a:t>
            </a:r>
            <a:r>
              <a:rPr kumimoji="0" lang="en-US" altLang="en-US" sz="5600" b="0" i="0" u="none" strike="noStrike" cap="none" normalizeH="0" baseline="0" dirty="0" err="1">
                <a:ln>
                  <a:noFill/>
                </a:ln>
                <a:solidFill>
                  <a:schemeClr val="tx1">
                    <a:lumMod val="75000"/>
                    <a:lumOff val="25000"/>
                  </a:schemeClr>
                </a:solidFill>
                <a:effectLst/>
              </a:rPr>
              <a:t>player_input</a:t>
            </a:r>
            <a:endParaRPr kumimoji="0" lang="en-US" altLang="en-US" sz="5600" b="0" i="0" u="none" strike="noStrike" cap="none" normalizeH="0" baseline="0" dirty="0">
              <a:ln>
                <a:noFill/>
              </a:ln>
              <a:solidFill>
                <a:schemeClr val="tx1">
                  <a:lumMod val="75000"/>
                  <a:lumOff val="25000"/>
                </a:schemeClr>
              </a:solidFill>
              <a:effectLst/>
            </a:endParaRPr>
          </a:p>
          <a:p>
            <a:pPr marL="0" marR="0" lvl="0" indent="0" fontAlgn="base">
              <a:lnSpc>
                <a:spcPct val="90000"/>
              </a:lnSpc>
              <a:spcBef>
                <a:spcPts val="1000"/>
              </a:spcBef>
              <a:buClr>
                <a:schemeClr val="accent1"/>
              </a:buClr>
              <a:buSzPct val="80000"/>
              <a:buFont typeface="Wingdings 3" charset="2"/>
              <a:buChar char=""/>
              <a:tabLst/>
            </a:pPr>
            <a:r>
              <a:rPr kumimoji="0" lang="en-US" altLang="en-US" sz="5600" b="0" i="0" u="none" strike="noStrike" cap="none" normalizeH="0" baseline="0" dirty="0">
                <a:ln>
                  <a:noFill/>
                </a:ln>
                <a:solidFill>
                  <a:schemeClr val="tx1">
                    <a:lumMod val="75000"/>
                    <a:lumOff val="25000"/>
                  </a:schemeClr>
                </a:solidFill>
                <a:effectLst/>
              </a:rPr>
              <a:t>Convert </a:t>
            </a:r>
            <a:r>
              <a:rPr kumimoji="0" lang="en-US" altLang="en-US" sz="5600" b="0" i="0" u="none" strike="noStrike" cap="none" normalizeH="0" baseline="0" dirty="0" err="1">
                <a:ln>
                  <a:noFill/>
                </a:ln>
                <a:solidFill>
                  <a:schemeClr val="tx1">
                    <a:lumMod val="75000"/>
                    <a:lumOff val="25000"/>
                  </a:schemeClr>
                </a:solidFill>
                <a:effectLst/>
              </a:rPr>
              <a:t>player_input</a:t>
            </a:r>
            <a:r>
              <a:rPr kumimoji="0" lang="en-US" altLang="en-US" sz="5600" b="0" i="0" u="none" strike="noStrike" cap="none" normalizeH="0" baseline="0" dirty="0">
                <a:ln>
                  <a:noFill/>
                </a:ln>
                <a:solidFill>
                  <a:schemeClr val="tx1">
                    <a:lumMod val="75000"/>
                    <a:lumOff val="25000"/>
                  </a:schemeClr>
                </a:solidFill>
                <a:effectLst/>
              </a:rPr>
              <a:t> to lowercase (for easier comparison)</a:t>
            </a:r>
          </a:p>
          <a:p>
            <a:pPr marL="0" marR="0" lvl="0" indent="0" fontAlgn="base">
              <a:lnSpc>
                <a:spcPct val="90000"/>
              </a:lnSpc>
              <a:spcBef>
                <a:spcPts val="1000"/>
              </a:spcBef>
              <a:buClr>
                <a:schemeClr val="accent1"/>
              </a:buClr>
              <a:buSzPct val="80000"/>
              <a:buFont typeface="Wingdings 3" charset="2"/>
              <a:buChar char=""/>
              <a:tabLst/>
            </a:pPr>
            <a:r>
              <a:rPr kumimoji="0" lang="en-US" altLang="en-US" sz="5600" b="1" i="0" u="none" strike="noStrike" cap="none" normalizeH="0" baseline="0" dirty="0">
                <a:ln>
                  <a:noFill/>
                </a:ln>
                <a:solidFill>
                  <a:schemeClr val="tx1">
                    <a:lumMod val="75000"/>
                    <a:lumOff val="25000"/>
                  </a:schemeClr>
                </a:solidFill>
                <a:effectLst/>
              </a:rPr>
              <a:t>Decision: Does the command start with go?</a:t>
            </a:r>
            <a:endParaRPr kumimoji="0" lang="en-US" altLang="en-US" sz="5600" b="0" i="0" u="none" strike="noStrike" cap="none" normalizeH="0" baseline="0" dirty="0">
              <a:ln>
                <a:noFill/>
              </a:ln>
              <a:solidFill>
                <a:schemeClr val="tx1">
                  <a:lumMod val="75000"/>
                  <a:lumOff val="25000"/>
                </a:schemeClr>
              </a:solidFill>
              <a:effectLst/>
            </a:endParaRPr>
          </a:p>
          <a:p>
            <a:pPr marL="457200" marR="0" lvl="1" indent="0" fontAlgn="base">
              <a:lnSpc>
                <a:spcPct val="90000"/>
              </a:lnSpc>
              <a:spcBef>
                <a:spcPts val="1000"/>
              </a:spcBef>
              <a:buClr>
                <a:schemeClr val="accent1"/>
              </a:buClr>
              <a:buSzPct val="80000"/>
              <a:buFont typeface="Wingdings 3" charset="2"/>
              <a:buChar char=""/>
              <a:tabLst/>
            </a:pPr>
            <a:r>
              <a:rPr kumimoji="0" lang="en-US" altLang="en-US" sz="5600" b="1" i="0" u="none" strike="noStrike" cap="none" normalizeH="0" baseline="0" dirty="0">
                <a:ln>
                  <a:noFill/>
                </a:ln>
                <a:solidFill>
                  <a:schemeClr val="tx1">
                    <a:lumMod val="75000"/>
                    <a:lumOff val="25000"/>
                  </a:schemeClr>
                </a:solidFill>
                <a:effectLst/>
              </a:rPr>
              <a:t>Yes:</a:t>
            </a:r>
            <a:endParaRPr kumimoji="0" lang="en-US" altLang="en-US" sz="5600" b="0" i="0" u="none" strike="noStrike" cap="none" normalizeH="0" baseline="0" dirty="0">
              <a:ln>
                <a:noFill/>
              </a:ln>
              <a:solidFill>
                <a:schemeClr val="tx1">
                  <a:lumMod val="75000"/>
                  <a:lumOff val="25000"/>
                </a:schemeClr>
              </a:solidFill>
              <a:effectLst/>
            </a:endParaRPr>
          </a:p>
          <a:p>
            <a:pPr marL="914400" marR="0" lvl="2" indent="0" fontAlgn="base">
              <a:lnSpc>
                <a:spcPct val="90000"/>
              </a:lnSpc>
              <a:spcBef>
                <a:spcPts val="1000"/>
              </a:spcBef>
              <a:buClr>
                <a:schemeClr val="accent1"/>
              </a:buClr>
              <a:buSzPct val="80000"/>
              <a:buFont typeface="Wingdings 3" charset="2"/>
              <a:buChar char=""/>
              <a:tabLst/>
            </a:pPr>
            <a:r>
              <a:rPr kumimoji="0" lang="en-US" altLang="en-US" sz="5600" b="0" i="0" u="none" strike="noStrike" cap="none" normalizeH="0" baseline="0" dirty="0">
                <a:ln>
                  <a:noFill/>
                </a:ln>
                <a:solidFill>
                  <a:schemeClr val="tx1">
                    <a:lumMod val="75000"/>
                    <a:lumOff val="25000"/>
                  </a:schemeClr>
                </a:solidFill>
                <a:effectLst/>
              </a:rPr>
              <a:t>Extract the direction (north, south, east, or west)</a:t>
            </a:r>
          </a:p>
          <a:p>
            <a:pPr marL="914400" marR="0" lvl="2" indent="0" fontAlgn="base">
              <a:lnSpc>
                <a:spcPct val="90000"/>
              </a:lnSpc>
              <a:spcBef>
                <a:spcPts val="1000"/>
              </a:spcBef>
              <a:buClr>
                <a:schemeClr val="accent1"/>
              </a:buClr>
              <a:buSzPct val="80000"/>
              <a:buFont typeface="Wingdings 3" charset="2"/>
              <a:buChar char=""/>
              <a:tabLst/>
            </a:pPr>
            <a:r>
              <a:rPr kumimoji="0" lang="en-US" altLang="en-US" sz="5600" b="1" i="0" u="none" strike="noStrike" cap="none" normalizeH="0" baseline="0" dirty="0">
                <a:ln>
                  <a:noFill/>
                </a:ln>
                <a:solidFill>
                  <a:schemeClr val="tx1">
                    <a:lumMod val="75000"/>
                    <a:lumOff val="25000"/>
                  </a:schemeClr>
                </a:solidFill>
                <a:effectLst/>
              </a:rPr>
              <a:t>Check: Is that direction a valid exit from </a:t>
            </a:r>
            <a:r>
              <a:rPr kumimoji="0" lang="en-US" altLang="en-US" sz="5600" b="1" i="0" u="none" strike="noStrike" cap="none" normalizeH="0" baseline="0" dirty="0" err="1">
                <a:ln>
                  <a:noFill/>
                </a:ln>
                <a:solidFill>
                  <a:schemeClr val="tx1">
                    <a:lumMod val="75000"/>
                    <a:lumOff val="25000"/>
                  </a:schemeClr>
                </a:solidFill>
                <a:effectLst/>
              </a:rPr>
              <a:t>current_room</a:t>
            </a:r>
            <a:r>
              <a:rPr kumimoji="0" lang="en-US" altLang="en-US" sz="5600" b="1" i="0" u="none" strike="noStrike" cap="none" normalizeH="0" baseline="0" dirty="0">
                <a:ln>
                  <a:noFill/>
                </a:ln>
                <a:solidFill>
                  <a:schemeClr val="tx1">
                    <a:lumMod val="75000"/>
                    <a:lumOff val="25000"/>
                  </a:schemeClr>
                </a:solidFill>
                <a:effectLst/>
              </a:rPr>
              <a:t>?</a:t>
            </a:r>
            <a:endParaRPr kumimoji="0" lang="en-US" altLang="en-US" sz="5600" b="0" i="0" u="none" strike="noStrike" cap="none" normalizeH="0" baseline="0" dirty="0">
              <a:ln>
                <a:noFill/>
              </a:ln>
              <a:solidFill>
                <a:schemeClr val="tx1">
                  <a:lumMod val="75000"/>
                  <a:lumOff val="25000"/>
                </a:schemeClr>
              </a:solidFill>
              <a:effectLst/>
            </a:endParaRPr>
          </a:p>
          <a:p>
            <a:pPr marL="1371600" marR="0" lvl="3" indent="0" fontAlgn="base">
              <a:lnSpc>
                <a:spcPct val="90000"/>
              </a:lnSpc>
              <a:spcBef>
                <a:spcPts val="1000"/>
              </a:spcBef>
              <a:buClr>
                <a:schemeClr val="accent1"/>
              </a:buClr>
              <a:buSzPct val="80000"/>
              <a:buFont typeface="Wingdings 3" charset="2"/>
              <a:buChar char=""/>
              <a:tabLst/>
            </a:pPr>
            <a:r>
              <a:rPr kumimoji="0" lang="en-US" altLang="en-US" sz="5600" b="1" i="0" u="none" strike="noStrike" cap="none" normalizeH="0" baseline="0" dirty="0">
                <a:ln>
                  <a:noFill/>
                </a:ln>
                <a:solidFill>
                  <a:schemeClr val="tx1">
                    <a:lumMod val="75000"/>
                    <a:lumOff val="25000"/>
                  </a:schemeClr>
                </a:solidFill>
                <a:effectLst/>
              </a:rPr>
              <a:t>Yes:</a:t>
            </a:r>
            <a:endParaRPr kumimoji="0" lang="en-US" altLang="en-US" sz="5600" b="0" i="0" u="none" strike="noStrike" cap="none" normalizeH="0" baseline="0" dirty="0">
              <a:ln>
                <a:noFill/>
              </a:ln>
              <a:solidFill>
                <a:schemeClr val="tx1">
                  <a:lumMod val="75000"/>
                  <a:lumOff val="25000"/>
                </a:schemeClr>
              </a:solidFill>
              <a:effectLst/>
            </a:endParaRPr>
          </a:p>
          <a:p>
            <a:pPr marL="1828800" marR="0" lvl="4" indent="0" fontAlgn="base">
              <a:lnSpc>
                <a:spcPct val="90000"/>
              </a:lnSpc>
              <a:spcBef>
                <a:spcPts val="1000"/>
              </a:spcBef>
              <a:buClr>
                <a:schemeClr val="accent1"/>
              </a:buClr>
              <a:buSzPct val="80000"/>
              <a:buFont typeface="Wingdings 3" charset="2"/>
              <a:buChar char=""/>
              <a:tabLst/>
            </a:pPr>
            <a:r>
              <a:rPr kumimoji="0" lang="en-US" altLang="en-US" sz="5600" b="0" i="0" u="none" strike="noStrike" cap="none" normalizeH="0" baseline="0" dirty="0">
                <a:ln>
                  <a:noFill/>
                </a:ln>
                <a:solidFill>
                  <a:schemeClr val="tx1">
                    <a:lumMod val="75000"/>
                    <a:lumOff val="25000"/>
                  </a:schemeClr>
                </a:solidFill>
                <a:effectLst/>
              </a:rPr>
              <a:t>Move </a:t>
            </a:r>
            <a:r>
              <a:rPr kumimoji="0" lang="en-US" altLang="en-US" sz="5600" b="0" i="0" u="none" strike="noStrike" cap="none" normalizeH="0" baseline="0" dirty="0" err="1">
                <a:ln>
                  <a:noFill/>
                </a:ln>
                <a:solidFill>
                  <a:schemeClr val="tx1">
                    <a:lumMod val="75000"/>
                    <a:lumOff val="25000"/>
                  </a:schemeClr>
                </a:solidFill>
                <a:effectLst/>
              </a:rPr>
              <a:t>current_room</a:t>
            </a:r>
            <a:r>
              <a:rPr kumimoji="0" lang="en-US" altLang="en-US" sz="5600" b="0" i="0" u="none" strike="noStrike" cap="none" normalizeH="0" baseline="0" dirty="0">
                <a:ln>
                  <a:noFill/>
                </a:ln>
                <a:solidFill>
                  <a:schemeClr val="tx1">
                    <a:lumMod val="75000"/>
                    <a:lumOff val="25000"/>
                  </a:schemeClr>
                </a:solidFill>
                <a:effectLst/>
              </a:rPr>
              <a:t> to the next room in that direction</a:t>
            </a:r>
          </a:p>
          <a:p>
            <a:pPr marL="1828800" marR="0" lvl="4" indent="0" fontAlgn="base">
              <a:lnSpc>
                <a:spcPct val="90000"/>
              </a:lnSpc>
              <a:spcBef>
                <a:spcPts val="1000"/>
              </a:spcBef>
              <a:buClr>
                <a:schemeClr val="accent1"/>
              </a:buClr>
              <a:buSzPct val="80000"/>
              <a:buFont typeface="Wingdings 3" charset="2"/>
              <a:buChar char=""/>
              <a:tabLst/>
            </a:pPr>
            <a:r>
              <a:rPr kumimoji="0" lang="en-US" altLang="en-US" sz="5600" b="1" i="0" u="none" strike="noStrike" cap="none" normalizeH="0" baseline="0" dirty="0">
                <a:ln>
                  <a:noFill/>
                </a:ln>
                <a:solidFill>
                  <a:schemeClr val="tx1">
                    <a:lumMod val="75000"/>
                    <a:lumOff val="25000"/>
                  </a:schemeClr>
                </a:solidFill>
                <a:effectLst/>
              </a:rPr>
              <a:t>Check: Is </a:t>
            </a:r>
            <a:r>
              <a:rPr kumimoji="0" lang="en-US" altLang="en-US" sz="5600" b="1" i="0" u="none" strike="noStrike" cap="none" normalizeH="0" baseline="0" dirty="0" err="1">
                <a:ln>
                  <a:noFill/>
                </a:ln>
                <a:solidFill>
                  <a:schemeClr val="tx1">
                    <a:lumMod val="75000"/>
                    <a:lumOff val="25000"/>
                  </a:schemeClr>
                </a:solidFill>
                <a:effectLst/>
              </a:rPr>
              <a:t>current_room</a:t>
            </a:r>
            <a:r>
              <a:rPr kumimoji="0" lang="en-US" altLang="en-US" sz="5600" b="1" i="0" u="none" strike="noStrike" cap="none" normalizeH="0" baseline="0" dirty="0">
                <a:ln>
                  <a:noFill/>
                </a:ln>
                <a:solidFill>
                  <a:schemeClr val="tx1">
                    <a:lumMod val="75000"/>
                    <a:lumOff val="25000"/>
                  </a:schemeClr>
                </a:solidFill>
                <a:effectLst/>
              </a:rPr>
              <a:t> now "Beast’s Lair"?</a:t>
            </a:r>
            <a:endParaRPr kumimoji="0" lang="en-US" altLang="en-US" sz="5600" b="0" i="0" u="none" strike="noStrike" cap="none" normalizeH="0" baseline="0" dirty="0">
              <a:ln>
                <a:noFill/>
              </a:ln>
              <a:solidFill>
                <a:schemeClr val="tx1">
                  <a:lumMod val="75000"/>
                  <a:lumOff val="25000"/>
                </a:schemeClr>
              </a:solidFill>
              <a:effectLst/>
            </a:endParaRPr>
          </a:p>
          <a:p>
            <a:pPr marL="1828800" marR="0" lvl="4" indent="0" fontAlgn="base">
              <a:lnSpc>
                <a:spcPct val="90000"/>
              </a:lnSpc>
              <a:spcBef>
                <a:spcPts val="1000"/>
              </a:spcBef>
              <a:buClr>
                <a:schemeClr val="accent1"/>
              </a:buClr>
              <a:buSzPct val="80000"/>
              <a:buFont typeface="Wingdings 3" charset="2"/>
              <a:buChar char=""/>
              <a:tabLst/>
            </a:pPr>
            <a:r>
              <a:rPr kumimoji="0" lang="en-US" altLang="en-US" sz="5600" b="1" i="0" u="none" strike="noStrike" cap="none" normalizeH="0" baseline="0" dirty="0">
                <a:ln>
                  <a:noFill/>
                </a:ln>
                <a:solidFill>
                  <a:schemeClr val="tx1">
                    <a:lumMod val="75000"/>
                    <a:lumOff val="25000"/>
                  </a:schemeClr>
                </a:solidFill>
                <a:effectLst/>
              </a:rPr>
              <a:t>Yes:</a:t>
            </a:r>
            <a:endParaRPr kumimoji="0" lang="en-US" altLang="en-US" sz="5600" b="0" i="0" u="none" strike="noStrike" cap="none" normalizeH="0" baseline="0" dirty="0">
              <a:ln>
                <a:noFill/>
              </a:ln>
              <a:solidFill>
                <a:schemeClr val="tx1">
                  <a:lumMod val="75000"/>
                  <a:lumOff val="25000"/>
                </a:schemeClr>
              </a:solidFill>
              <a:effectLst/>
            </a:endParaRPr>
          </a:p>
          <a:p>
            <a:pPr marL="1828800" marR="0" lvl="4" indent="0" fontAlgn="base">
              <a:lnSpc>
                <a:spcPct val="90000"/>
              </a:lnSpc>
              <a:spcBef>
                <a:spcPts val="1000"/>
              </a:spcBef>
              <a:buClr>
                <a:schemeClr val="accent1"/>
              </a:buClr>
              <a:buSzPct val="80000"/>
              <a:buFont typeface="Wingdings 3" charset="2"/>
              <a:buChar char=""/>
              <a:tabLst/>
            </a:pPr>
            <a:r>
              <a:rPr kumimoji="0" lang="en-US" altLang="en-US" sz="5600" b="1" i="0" u="none" strike="noStrike" cap="none" normalizeH="0" baseline="0" dirty="0">
                <a:ln>
                  <a:noFill/>
                </a:ln>
                <a:solidFill>
                  <a:schemeClr val="tx1">
                    <a:lumMod val="75000"/>
                    <a:lumOff val="25000"/>
                  </a:schemeClr>
                </a:solidFill>
                <a:effectLst/>
              </a:rPr>
              <a:t>Check: Does inventory contain all required items?</a:t>
            </a:r>
            <a:endParaRPr kumimoji="0" lang="en-US" altLang="en-US" sz="5600" b="0" i="0" u="none" strike="noStrike" cap="none" normalizeH="0" baseline="0" dirty="0">
              <a:ln>
                <a:noFill/>
              </a:ln>
              <a:solidFill>
                <a:schemeClr val="tx1">
                  <a:lumMod val="75000"/>
                  <a:lumOff val="25000"/>
                </a:schemeClr>
              </a:solidFill>
              <a:effectLst/>
            </a:endParaRPr>
          </a:p>
          <a:p>
            <a:pPr marL="0" marR="0" lvl="0" indent="0" fontAlgn="base">
              <a:lnSpc>
                <a:spcPct val="90000"/>
              </a:lnSpc>
              <a:spcBef>
                <a:spcPts val="1000"/>
              </a:spcBef>
              <a:buClr>
                <a:schemeClr val="accent1"/>
              </a:buClr>
              <a:buSzPct val="80000"/>
              <a:buFont typeface="Wingdings 3" charset="2"/>
              <a:buChar char=""/>
              <a:tabLst/>
            </a:pPr>
            <a:endParaRPr kumimoji="0" lang="en-US" altLang="en-US" sz="500" b="0" i="0" u="none" strike="noStrike" cap="none" normalizeH="0" baseline="0" dirty="0">
              <a:ln>
                <a:noFill/>
              </a:ln>
              <a:solidFill>
                <a:schemeClr val="tx1">
                  <a:lumMod val="75000"/>
                  <a:lumOff val="25000"/>
                </a:schemeClr>
              </a:solidFill>
              <a:effectLst/>
            </a:endParaRPr>
          </a:p>
        </p:txBody>
      </p:sp>
      <p:pic>
        <p:nvPicPr>
          <p:cNvPr id="7" name="Graphic 6" descr="Flowchart">
            <a:extLst>
              <a:ext uri="{FF2B5EF4-FFF2-40B4-BE49-F238E27FC236}">
                <a16:creationId xmlns:a16="http://schemas.microsoft.com/office/drawing/2014/main" id="{DFBF2573-9F28-5CB3-033B-F4EC7FDDB4B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76177" y="4273484"/>
            <a:ext cx="1992444" cy="1992444"/>
          </a:xfrm>
          <a:prstGeom prst="rect">
            <a:avLst/>
          </a:prstGeom>
        </p:spPr>
      </p:pic>
      <p:sp>
        <p:nvSpPr>
          <p:cNvPr id="3" name="TextBox 2"/>
          <p:cNvSpPr txBox="1"/>
          <p:nvPr/>
        </p:nvSpPr>
        <p:spPr>
          <a:xfrm>
            <a:off x="416698" y="1944413"/>
            <a:ext cx="2980457" cy="4137573"/>
          </a:xfrm>
          <a:prstGeom prst="rect">
            <a:avLst/>
          </a:prstGeom>
        </p:spPr>
        <p:txBody>
          <a:bodyPr vert="horz" lIns="91440" tIns="45720" rIns="91440" bIns="45720" rtlCol="0">
            <a:noAutofit/>
          </a:bodyPr>
          <a:lstStyle/>
          <a:p>
            <a:pPr>
              <a:lnSpc>
                <a:spcPct val="90000"/>
              </a:lnSpc>
              <a:spcBef>
                <a:spcPts val="1000"/>
              </a:spcBef>
              <a:buClr>
                <a:schemeClr val="accent1"/>
              </a:buClr>
              <a:buSzPct val="80000"/>
              <a:buFont typeface="Wingdings 3" charset="2"/>
              <a:buChar char=""/>
              <a:defRPr sz="2000" b="0">
                <a:solidFill>
                  <a:srgbClr val="EBEBEB"/>
                </a:solidFill>
              </a:defRPr>
            </a:pPr>
            <a:endParaRPr lang="en-US" sz="1500"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378134-CB31-5F85-8146-9E38E80C16BF}"/>
              </a:ext>
            </a:extLst>
          </p:cNvPr>
          <p:cNvSpPr txBox="1"/>
          <p:nvPr/>
        </p:nvSpPr>
        <p:spPr>
          <a:xfrm>
            <a:off x="185309" y="-248816"/>
            <a:ext cx="2903123" cy="5431762"/>
          </a:xfrm>
          <a:prstGeom prst="rect">
            <a:avLst/>
          </a:prstGeom>
        </p:spPr>
        <p:txBody>
          <a:bodyPr vert="horz" lIns="91440" tIns="45720" rIns="91440" bIns="45720" rtlCol="0" anchor="ctr">
            <a:normAutofit/>
          </a:bodyPr>
          <a:lstStyle/>
          <a:p>
            <a:pPr>
              <a:spcBef>
                <a:spcPct val="0"/>
              </a:spcBef>
              <a:spcAft>
                <a:spcPts val="600"/>
              </a:spcAft>
              <a:defRPr sz="3400" b="1">
                <a:solidFill>
                  <a:srgbClr val="78C878"/>
                </a:solidFill>
              </a:defRPr>
            </a:pPr>
            <a:r>
              <a:rPr lang="en-US" sz="3600" dirty="0">
                <a:solidFill>
                  <a:schemeClr val="accent1"/>
                </a:solidFill>
                <a:latin typeface="+mj-lt"/>
                <a:ea typeface="+mj-ea"/>
                <a:cs typeface="+mj-cs"/>
              </a:rPr>
              <a:t>Flowchart: Movement Logic (continued)</a:t>
            </a:r>
          </a:p>
        </p:txBody>
      </p:sp>
      <p:sp>
        <p:nvSpPr>
          <p:cNvPr id="3" name="Rectangle 1">
            <a:extLst>
              <a:ext uri="{FF2B5EF4-FFF2-40B4-BE49-F238E27FC236}">
                <a16:creationId xmlns:a16="http://schemas.microsoft.com/office/drawing/2014/main" id="{BDD5C338-D11C-9A35-E2DB-5157A7188213}"/>
              </a:ext>
            </a:extLst>
          </p:cNvPr>
          <p:cNvSpPr>
            <a:spLocks noChangeArrowheads="1"/>
          </p:cNvSpPr>
          <p:nvPr/>
        </p:nvSpPr>
        <p:spPr bwMode="auto">
          <a:xfrm>
            <a:off x="1939466" y="810418"/>
            <a:ext cx="7204534"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828800" marR="0" lvl="4"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Yes:</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1828800" marR="0" lvl="4"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Display: “You use the relics to restore the Forest Guardian and escape. You win!”</a:t>
            </a:r>
          </a:p>
          <a:p>
            <a:pPr marL="1828800" marR="0" lvl="4"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Set </a:t>
            </a:r>
            <a:r>
              <a:rPr kumimoji="0" lang="en-US" altLang="en-US" sz="1400" b="0" i="0" u="none" strike="noStrike" cap="none" normalizeH="0" baseline="0" dirty="0" err="1">
                <a:ln>
                  <a:noFill/>
                </a:ln>
                <a:solidFill>
                  <a:schemeClr val="tx1"/>
                </a:solidFill>
                <a:effectLst/>
                <a:latin typeface="Arial Unicode MS"/>
              </a:rPr>
              <a:t>game_over</a:t>
            </a:r>
            <a:r>
              <a:rPr kumimoji="0" lang="en-US" altLang="en-US" sz="1400" b="0" i="0" u="none" strike="noStrike" cap="none" normalizeH="0" baseline="0" dirty="0">
                <a:ln>
                  <a:noFill/>
                </a:ln>
                <a:solidFill>
                  <a:schemeClr val="tx1"/>
                </a:solidFill>
                <a:effectLst/>
              </a:rPr>
              <a:t> = </a:t>
            </a:r>
            <a:r>
              <a:rPr kumimoji="0" lang="en-US" altLang="en-US" sz="1400" b="0" i="0" u="none" strike="noStrike" cap="none" normalizeH="0" baseline="0" dirty="0">
                <a:ln>
                  <a:noFill/>
                </a:ln>
                <a:solidFill>
                  <a:schemeClr val="tx1"/>
                </a:solidFill>
                <a:effectLst/>
                <a:latin typeface="Arial Unicode MS"/>
              </a:rPr>
              <a:t>True</a:t>
            </a:r>
            <a:endParaRPr kumimoji="0" lang="en-US" altLang="en-US" sz="1400" b="0" i="0" u="none" strike="noStrike" cap="none" normalizeH="0" baseline="0" dirty="0">
              <a:ln>
                <a:noFill/>
              </a:ln>
              <a:solidFill>
                <a:schemeClr val="tx1"/>
              </a:solidFill>
              <a:effectLst/>
            </a:endParaRPr>
          </a:p>
          <a:p>
            <a:pPr marL="1828800" marR="0" lvl="4"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No:</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1828800" marR="0" lvl="4"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Display: “You face the Forest Guardian unprepared and are defeated. Game over.”</a:t>
            </a:r>
          </a:p>
          <a:p>
            <a:pPr marL="1828800" marR="0" lvl="4"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Set </a:t>
            </a:r>
            <a:r>
              <a:rPr kumimoji="0" lang="en-US" altLang="en-US" sz="1400" b="0" i="0" u="none" strike="noStrike" cap="none" normalizeH="0" baseline="0" dirty="0" err="1">
                <a:ln>
                  <a:noFill/>
                </a:ln>
                <a:solidFill>
                  <a:schemeClr val="tx1"/>
                </a:solidFill>
                <a:effectLst/>
                <a:latin typeface="Arial Unicode MS"/>
              </a:rPr>
              <a:t>game_over</a:t>
            </a:r>
            <a:r>
              <a:rPr kumimoji="0" lang="en-US" altLang="en-US" sz="1400" b="0" i="0" u="none" strike="noStrike" cap="none" normalizeH="0" baseline="0" dirty="0">
                <a:ln>
                  <a:noFill/>
                </a:ln>
                <a:solidFill>
                  <a:schemeClr val="tx1"/>
                </a:solidFill>
                <a:effectLst/>
              </a:rPr>
              <a:t> = </a:t>
            </a:r>
            <a:r>
              <a:rPr kumimoji="0" lang="en-US" altLang="en-US" sz="1400" b="0" i="0" u="none" strike="noStrike" cap="none" normalizeH="0" baseline="0" dirty="0">
                <a:ln>
                  <a:noFill/>
                </a:ln>
                <a:solidFill>
                  <a:schemeClr val="tx1"/>
                </a:solidFill>
                <a:effectLst/>
                <a:latin typeface="Arial Unicode MS"/>
              </a:rPr>
              <a:t>True</a:t>
            </a:r>
            <a:endParaRPr kumimoji="0" lang="en-US" altLang="en-US" sz="1400" b="0" i="0" u="none" strike="noStrike" cap="none" normalizeH="0" baseline="0" dirty="0">
              <a:ln>
                <a:noFill/>
              </a:ln>
              <a:solidFill>
                <a:schemeClr val="tx1"/>
              </a:solidFill>
              <a:effectLst/>
            </a:endParaRPr>
          </a:p>
          <a:p>
            <a:pPr marL="1828800" marR="0" lvl="4"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No:</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1828800" marR="0" lvl="4"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Display: “You move into [</a:t>
            </a:r>
            <a:r>
              <a:rPr kumimoji="0" lang="en-US" altLang="en-US" sz="1400" b="0" i="0" u="none" strike="noStrike" cap="none" normalizeH="0" baseline="0" dirty="0" err="1">
                <a:ln>
                  <a:noFill/>
                </a:ln>
                <a:solidFill>
                  <a:schemeClr val="tx1"/>
                </a:solidFill>
                <a:effectLst/>
                <a:latin typeface="Arial" panose="020B0604020202020204" pitchFamily="34" charset="0"/>
              </a:rPr>
              <a:t>current_room</a:t>
            </a:r>
            <a:r>
              <a:rPr kumimoji="0" lang="en-US" altLang="en-US" sz="1400" b="0" i="0" u="none" strike="noStrike" cap="none" normalizeH="0" baseline="0" dirty="0">
                <a:ln>
                  <a:noFill/>
                </a:ln>
                <a:solidFill>
                  <a:schemeClr val="tx1"/>
                </a:solidFill>
                <a:effectLst/>
                <a:latin typeface="Arial" panose="020B0604020202020204" pitchFamily="34" charset="0"/>
              </a:rPr>
              <a:t>].” and continue the loop</a:t>
            </a:r>
          </a:p>
          <a:p>
            <a:pPr marL="1371600" marR="0" lvl="3"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No (invalid direction for that room):</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1828800" marR="0" lvl="4"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Display: “You can’t go that way from here.”</a:t>
            </a:r>
          </a:p>
          <a:p>
            <a:pPr marL="1828800" marR="0" lvl="4"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Stay in the same room and continue the loop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No (command does not start with </a:t>
            </a:r>
            <a:r>
              <a:rPr kumimoji="0" lang="en-US" altLang="en-US" sz="1400" b="1" i="0" u="none" strike="noStrike" cap="none" normalizeH="0" baseline="0" dirty="0">
                <a:ln>
                  <a:noFill/>
                </a:ln>
                <a:solidFill>
                  <a:schemeClr val="tx1"/>
                </a:solidFill>
                <a:effectLst/>
                <a:latin typeface="Arial Unicode MS"/>
              </a:rPr>
              <a:t>go</a:t>
            </a:r>
            <a:r>
              <a:rPr kumimoji="0" lang="en-US" altLang="en-US" sz="1400" b="1" i="0" u="none" strike="noStrike" cap="none" normalizeH="0" baseline="0" dirty="0">
                <a:ln>
                  <a:noFill/>
                </a:ln>
                <a:solidFill>
                  <a:schemeClr val="tx1"/>
                </a:solidFill>
                <a:effectLst/>
              </a:rPr>
              <a:t>):</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Check: Is the command </a:t>
            </a:r>
            <a:r>
              <a:rPr kumimoji="0" lang="en-US" altLang="en-US" sz="1400" b="1" i="0" u="none" strike="noStrike" cap="none" normalizeH="0" baseline="0" dirty="0">
                <a:ln>
                  <a:noFill/>
                </a:ln>
                <a:solidFill>
                  <a:schemeClr val="tx1"/>
                </a:solidFill>
                <a:effectLst/>
                <a:latin typeface="Arial Unicode MS"/>
              </a:rPr>
              <a:t>get</a:t>
            </a:r>
            <a:r>
              <a:rPr kumimoji="0" lang="en-US" altLang="en-US" sz="1400" b="1" i="0" u="none" strike="noStrike" cap="none" normalizeH="0" baseline="0" dirty="0">
                <a:ln>
                  <a:noFill/>
                </a:ln>
                <a:solidFill>
                  <a:schemeClr val="tx1"/>
                </a:solidFill>
                <a:effectLst/>
              </a:rPr>
              <a:t>?</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1371600" marR="0" lvl="3"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Yes:</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1828800" marR="0" lvl="4"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Call the </a:t>
            </a:r>
            <a:r>
              <a:rPr kumimoji="0" lang="en-US" altLang="en-US" sz="1400" b="1" i="0" u="none" strike="noStrike" cap="none" normalizeH="0" baseline="0" dirty="0">
                <a:ln>
                  <a:noFill/>
                </a:ln>
                <a:solidFill>
                  <a:schemeClr val="tx1"/>
                </a:solidFill>
                <a:effectLst/>
                <a:latin typeface="Arial" panose="020B0604020202020204" pitchFamily="34" charset="0"/>
              </a:rPr>
              <a:t>Get Item</a:t>
            </a:r>
            <a:r>
              <a:rPr kumimoji="0" lang="en-US" altLang="en-US" sz="1400" b="0" i="0" u="none" strike="noStrike" cap="none" normalizeH="0" baseline="0" dirty="0">
                <a:ln>
                  <a:noFill/>
                </a:ln>
                <a:solidFill>
                  <a:schemeClr val="tx1"/>
                </a:solidFill>
                <a:effectLst/>
                <a:latin typeface="Arial" panose="020B0604020202020204" pitchFamily="34" charset="0"/>
              </a:rPr>
              <a:t> logic (see next section)</a:t>
            </a:r>
          </a:p>
          <a:p>
            <a:pPr marL="1371600" marR="0" lvl="3"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No:</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1828800" marR="0" lvl="4"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Check: Is the command </a:t>
            </a:r>
            <a:r>
              <a:rPr kumimoji="0" lang="en-US" altLang="en-US" sz="1400" b="1" i="0" u="none" strike="noStrike" cap="none" normalizeH="0" baseline="0" dirty="0">
                <a:ln>
                  <a:noFill/>
                </a:ln>
                <a:solidFill>
                  <a:schemeClr val="tx1"/>
                </a:solidFill>
                <a:effectLst/>
                <a:latin typeface="Arial Unicode MS"/>
              </a:rPr>
              <a:t>quit</a:t>
            </a:r>
            <a:r>
              <a:rPr kumimoji="0" lang="en-US" altLang="en-US" sz="1400" b="1" i="0" u="none" strike="noStrike" cap="none" normalizeH="0" baseline="0" dirty="0">
                <a:ln>
                  <a:noFill/>
                </a:ln>
                <a:solidFill>
                  <a:schemeClr val="tx1"/>
                </a:solidFill>
                <a:effectLst/>
              </a:rPr>
              <a:t>?</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1828800" marR="0" lvl="4"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Yes:</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1828800" marR="0" lvl="4"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Display: “You choose to stop exploring the forest.”</a:t>
            </a:r>
          </a:p>
          <a:p>
            <a:pPr marL="1828800" marR="0" lvl="4"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Set </a:t>
            </a:r>
            <a:r>
              <a:rPr kumimoji="0" lang="en-US" altLang="en-US" sz="1400" b="0" i="0" u="none" strike="noStrike" cap="none" normalizeH="0" baseline="0" dirty="0" err="1">
                <a:ln>
                  <a:noFill/>
                </a:ln>
                <a:solidFill>
                  <a:schemeClr val="tx1"/>
                </a:solidFill>
                <a:effectLst/>
                <a:latin typeface="Arial Unicode MS"/>
              </a:rPr>
              <a:t>game_over</a:t>
            </a:r>
            <a:r>
              <a:rPr kumimoji="0" lang="en-US" altLang="en-US" sz="1400" b="0" i="0" u="none" strike="noStrike" cap="none" normalizeH="0" baseline="0" dirty="0">
                <a:ln>
                  <a:noFill/>
                </a:ln>
                <a:solidFill>
                  <a:schemeClr val="tx1"/>
                </a:solidFill>
                <a:effectLst/>
              </a:rPr>
              <a:t> = </a:t>
            </a:r>
            <a:r>
              <a:rPr kumimoji="0" lang="en-US" altLang="en-US" sz="1400" b="0" i="0" u="none" strike="noStrike" cap="none" normalizeH="0" baseline="0" dirty="0">
                <a:ln>
                  <a:noFill/>
                </a:ln>
                <a:solidFill>
                  <a:schemeClr val="tx1"/>
                </a:solidFill>
                <a:effectLst/>
                <a:latin typeface="Arial Unicode MS"/>
              </a:rPr>
              <a:t>True</a:t>
            </a:r>
            <a:endParaRPr kumimoji="0" lang="en-US" altLang="en-US" sz="1400" b="0" i="0" u="none" strike="noStrike" cap="none" normalizeH="0" baseline="0" dirty="0">
              <a:ln>
                <a:noFill/>
              </a:ln>
              <a:solidFill>
                <a:schemeClr val="tx1"/>
              </a:solidFill>
              <a:effectLst/>
            </a:endParaRPr>
          </a:p>
          <a:p>
            <a:pPr marL="1828800" marR="0" lvl="4"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No:</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1828800" marR="0" lvl="4"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Display: “I don’t understand that command.”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End loop when </a:t>
            </a:r>
            <a:r>
              <a:rPr kumimoji="0" lang="en-US" altLang="en-US" sz="1400" b="1" i="0" u="none" strike="noStrike" cap="none" normalizeH="0" baseline="0" dirty="0" err="1">
                <a:ln>
                  <a:noFill/>
                </a:ln>
                <a:solidFill>
                  <a:schemeClr val="tx1"/>
                </a:solidFill>
                <a:effectLst/>
                <a:latin typeface="Arial Unicode MS"/>
              </a:rPr>
              <a:t>game_over</a:t>
            </a:r>
            <a:r>
              <a:rPr kumimoji="0" lang="en-US" altLang="en-US" sz="1400" b="1" i="0" u="none" strike="noStrike" cap="none" normalizeH="0" baseline="0" dirty="0">
                <a:ln>
                  <a:noFill/>
                </a:ln>
                <a:solidFill>
                  <a:schemeClr val="tx1"/>
                </a:solidFill>
                <a:effectLst/>
              </a:rPr>
              <a:t> is True</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End</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678C928B-C988-48C4-4622-F4CBFD4BF676}"/>
              </a:ext>
            </a:extLst>
          </p:cNvPr>
          <p:cNvPicPr>
            <a:picLocks noChangeAspect="1"/>
          </p:cNvPicPr>
          <p:nvPr/>
        </p:nvPicPr>
        <p:blipFill>
          <a:blip r:embed="rId2"/>
          <a:stretch>
            <a:fillRect/>
          </a:stretch>
        </p:blipFill>
        <p:spPr>
          <a:xfrm>
            <a:off x="1793070" y="3962437"/>
            <a:ext cx="1993565" cy="1993565"/>
          </a:xfrm>
          <a:prstGeom prst="rect">
            <a:avLst/>
          </a:prstGeom>
        </p:spPr>
      </p:pic>
    </p:spTree>
    <p:extLst>
      <p:ext uri="{BB962C8B-B14F-4D97-AF65-F5344CB8AC3E}">
        <p14:creationId xmlns:p14="http://schemas.microsoft.com/office/powerpoint/2010/main" val="853305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26" name="Group 125">
            <a:extLst>
              <a:ext uri="{FF2B5EF4-FFF2-40B4-BE49-F238E27FC236}">
                <a16:creationId xmlns:a16="http://schemas.microsoft.com/office/drawing/2014/main" id="{FFA844EB-B4EF-4B2F-95CF-9E5C16B5B4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27" name="Straight Connector 126">
              <a:extLst>
                <a:ext uri="{FF2B5EF4-FFF2-40B4-BE49-F238E27FC236}">
                  <a16:creationId xmlns:a16="http://schemas.microsoft.com/office/drawing/2014/main" id="{D31205C9-9B34-4789-AA9B-D7B86D3A109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128" name="Straight Connector 127">
              <a:extLst>
                <a:ext uri="{FF2B5EF4-FFF2-40B4-BE49-F238E27FC236}">
                  <a16:creationId xmlns:a16="http://schemas.microsoft.com/office/drawing/2014/main" id="{7C1E24DB-0094-4D06-8F57-85C95C8743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129" name="Rectangle 23">
              <a:extLst>
                <a:ext uri="{FF2B5EF4-FFF2-40B4-BE49-F238E27FC236}">
                  <a16:creationId xmlns:a16="http://schemas.microsoft.com/office/drawing/2014/main" id="{DE703DF5-9BDF-42DB-9820-EDEAC68B0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0" name="Rectangle 25">
              <a:extLst>
                <a:ext uri="{FF2B5EF4-FFF2-40B4-BE49-F238E27FC236}">
                  <a16:creationId xmlns:a16="http://schemas.microsoft.com/office/drawing/2014/main" id="{045EAFA8-4C32-4942-9360-AB2082086A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1" name="Isosceles Triangle 130">
              <a:extLst>
                <a:ext uri="{FF2B5EF4-FFF2-40B4-BE49-F238E27FC236}">
                  <a16:creationId xmlns:a16="http://schemas.microsoft.com/office/drawing/2014/main" id="{3CAD2203-A7B2-45D8-9240-A3542F0FD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2" name="Rectangle 27">
              <a:extLst>
                <a:ext uri="{FF2B5EF4-FFF2-40B4-BE49-F238E27FC236}">
                  <a16:creationId xmlns:a16="http://schemas.microsoft.com/office/drawing/2014/main" id="{5DC5EF1D-D76F-48F5-ACAF-7F209B6463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3" name="Rectangle 28">
              <a:extLst>
                <a:ext uri="{FF2B5EF4-FFF2-40B4-BE49-F238E27FC236}">
                  <a16:creationId xmlns:a16="http://schemas.microsoft.com/office/drawing/2014/main" id="{C021030B-EC50-4CBB-847B-BF6FA8978E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4" name="Rectangle 29">
              <a:extLst>
                <a:ext uri="{FF2B5EF4-FFF2-40B4-BE49-F238E27FC236}">
                  <a16:creationId xmlns:a16="http://schemas.microsoft.com/office/drawing/2014/main" id="{E8ACDF8F-1AEB-4514-AC25-BDD3A547F9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5" name="Isosceles Triangle 134">
              <a:extLst>
                <a:ext uri="{FF2B5EF4-FFF2-40B4-BE49-F238E27FC236}">
                  <a16:creationId xmlns:a16="http://schemas.microsoft.com/office/drawing/2014/main" id="{AD6FF1EB-A33A-4569-B7E2-09FD56D169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6" name="Isosceles Triangle 135">
              <a:extLst>
                <a:ext uri="{FF2B5EF4-FFF2-40B4-BE49-F238E27FC236}">
                  <a16:creationId xmlns:a16="http://schemas.microsoft.com/office/drawing/2014/main" id="{B844DC64-9C05-463C-B2AB-40225DA81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138" name="Rectangle 13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40" name="Rectangle 139">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2" name="Straight Connector 14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5032"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4" name="Straight Connector 143">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599781" y="3681413"/>
            <a:ext cx="3572669"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46"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93473" y="-8467"/>
            <a:ext cx="2255512"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8"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9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0" name="Isosceles Triangle 14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6616" y="3048000"/>
            <a:ext cx="2444750"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82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4" name="Isosceles Triangle 15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6115" y="3589867"/>
            <a:ext cx="1362870"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6" name="Freeform: Shape 15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1615" y="-8467"/>
            <a:ext cx="5332385"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p:cNvSpPr txBox="1"/>
          <p:nvPr/>
        </p:nvSpPr>
        <p:spPr>
          <a:xfrm>
            <a:off x="508000" y="609599"/>
            <a:ext cx="2882531" cy="5545667"/>
          </a:xfrm>
          <a:prstGeom prst="rect">
            <a:avLst/>
          </a:prstGeom>
        </p:spPr>
        <p:txBody>
          <a:bodyPr vert="horz" lIns="91440" tIns="45720" rIns="91440" bIns="45720" rtlCol="0" anchor="ctr">
            <a:normAutofit/>
          </a:bodyPr>
          <a:lstStyle/>
          <a:p>
            <a:pPr>
              <a:spcBef>
                <a:spcPct val="0"/>
              </a:spcBef>
              <a:spcAft>
                <a:spcPts val="600"/>
              </a:spcAft>
              <a:defRPr sz="3400" b="1">
                <a:solidFill>
                  <a:srgbClr val="78C878"/>
                </a:solidFill>
              </a:defRPr>
            </a:pPr>
            <a:r>
              <a:rPr lang="en-US" sz="3600" dirty="0">
                <a:solidFill>
                  <a:schemeClr val="tx1">
                    <a:lumMod val="85000"/>
                    <a:lumOff val="15000"/>
                  </a:schemeClr>
                </a:solidFill>
                <a:latin typeface="+mj-lt"/>
                <a:ea typeface="+mj-ea"/>
                <a:cs typeface="+mj-cs"/>
              </a:rPr>
              <a:t>Flowchart: Get Item Logic</a:t>
            </a:r>
          </a:p>
        </p:txBody>
      </p:sp>
      <p:sp>
        <p:nvSpPr>
          <p:cNvPr id="4" name="Rectangle 1">
            <a:extLst>
              <a:ext uri="{FF2B5EF4-FFF2-40B4-BE49-F238E27FC236}">
                <a16:creationId xmlns:a16="http://schemas.microsoft.com/office/drawing/2014/main" id="{4F1DB9C1-19F5-CB6A-43ED-6ABFDDF497C9}"/>
              </a:ext>
            </a:extLst>
          </p:cNvPr>
          <p:cNvSpPr>
            <a:spLocks noChangeArrowheads="1"/>
          </p:cNvSpPr>
          <p:nvPr/>
        </p:nvSpPr>
        <p:spPr bwMode="auto">
          <a:xfrm>
            <a:off x="4587063" y="609600"/>
            <a:ext cx="4133472" cy="554566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fontAlgn="base">
              <a:lnSpc>
                <a:spcPct val="90000"/>
              </a:lnSpc>
              <a:spcBef>
                <a:spcPts val="1000"/>
              </a:spcBef>
              <a:buClr>
                <a:schemeClr val="accent1"/>
              </a:buClr>
              <a:buSzPct val="80000"/>
              <a:buFont typeface="Wingdings 3" charset="2"/>
              <a:buChar char=""/>
              <a:tabLst/>
            </a:pPr>
            <a:r>
              <a:rPr kumimoji="0" lang="en-US" altLang="en-US" sz="1400" b="1" i="0" u="none" strike="noStrike" cap="none" normalizeH="0" baseline="0">
                <a:ln>
                  <a:noFill/>
                </a:ln>
                <a:solidFill>
                  <a:srgbClr val="FFFFFF"/>
                </a:solidFill>
                <a:effectLst/>
              </a:rPr>
              <a:t>Start Get Item Logic</a:t>
            </a:r>
            <a:br>
              <a:rPr kumimoji="0" lang="en-US" altLang="en-US" sz="1400" b="0" i="0" u="none" strike="noStrike" cap="none" normalizeH="0" baseline="0">
                <a:ln>
                  <a:noFill/>
                </a:ln>
                <a:solidFill>
                  <a:srgbClr val="FFFFFF"/>
                </a:solidFill>
                <a:effectLst/>
              </a:rPr>
            </a:br>
            <a:r>
              <a:rPr kumimoji="0" lang="en-US" altLang="en-US" sz="1400" b="0" i="0" u="none" strike="noStrike" cap="none" normalizeH="0" baseline="0">
                <a:ln>
                  <a:noFill/>
                </a:ln>
                <a:solidFill>
                  <a:srgbClr val="FFFFFF"/>
                </a:solidFill>
                <a:effectLst/>
              </a:rPr>
              <a:t>↓</a:t>
            </a:r>
          </a:p>
          <a:p>
            <a:pPr marL="0" marR="0" lvl="0" indent="0" fontAlgn="base">
              <a:lnSpc>
                <a:spcPct val="90000"/>
              </a:lnSpc>
              <a:spcBef>
                <a:spcPts val="1000"/>
              </a:spcBef>
              <a:buClr>
                <a:schemeClr val="accent1"/>
              </a:buClr>
              <a:buSzPct val="80000"/>
              <a:buFont typeface="Wingdings 3" charset="2"/>
              <a:buChar char=""/>
              <a:tabLst/>
            </a:pPr>
            <a:r>
              <a:rPr kumimoji="0" lang="en-US" altLang="en-US" sz="1400" b="0" i="0" u="none" strike="noStrike" cap="none" normalizeH="0" baseline="0">
                <a:ln>
                  <a:noFill/>
                </a:ln>
                <a:solidFill>
                  <a:srgbClr val="FFFFFF"/>
                </a:solidFill>
                <a:effectLst/>
              </a:rPr>
              <a:t>Look up the item assigned to current_room (for example, from a dictionary like room_items)</a:t>
            </a:r>
          </a:p>
          <a:p>
            <a:pPr marL="0" marR="0" lvl="0" indent="0" fontAlgn="base">
              <a:lnSpc>
                <a:spcPct val="90000"/>
              </a:lnSpc>
              <a:spcBef>
                <a:spcPts val="1000"/>
              </a:spcBef>
              <a:buClr>
                <a:schemeClr val="accent1"/>
              </a:buClr>
              <a:buSzPct val="80000"/>
              <a:buFont typeface="Wingdings 3" charset="2"/>
              <a:buChar char=""/>
              <a:tabLst/>
            </a:pPr>
            <a:r>
              <a:rPr kumimoji="0" lang="en-US" altLang="en-US" sz="1400" b="0" i="0" u="none" strike="noStrike" cap="none" normalizeH="0" baseline="0">
                <a:ln>
                  <a:noFill/>
                </a:ln>
                <a:solidFill>
                  <a:srgbClr val="FFFFFF"/>
                </a:solidFill>
                <a:effectLst/>
              </a:rPr>
              <a:t>Set item_in_room = item for this room (or None if there is no item)</a:t>
            </a:r>
          </a:p>
          <a:p>
            <a:pPr marL="0" marR="0" lvl="0" indent="0" fontAlgn="base">
              <a:lnSpc>
                <a:spcPct val="90000"/>
              </a:lnSpc>
              <a:spcBef>
                <a:spcPts val="1000"/>
              </a:spcBef>
              <a:buClr>
                <a:schemeClr val="accent1"/>
              </a:buClr>
              <a:buSzPct val="80000"/>
              <a:buFont typeface="Wingdings 3" charset="2"/>
              <a:buChar char=""/>
              <a:tabLst/>
            </a:pPr>
            <a:r>
              <a:rPr kumimoji="0" lang="en-US" altLang="en-US" sz="1400" b="1" i="0" u="none" strike="noStrike" cap="none" normalizeH="0" baseline="0">
                <a:ln>
                  <a:noFill/>
                </a:ln>
                <a:solidFill>
                  <a:srgbClr val="FFFFFF"/>
                </a:solidFill>
                <a:effectLst/>
              </a:rPr>
              <a:t>Decision: Does this room have an item?</a:t>
            </a:r>
            <a:endParaRPr kumimoji="0" lang="en-US" altLang="en-US" sz="1400" b="0" i="0" u="none" strike="noStrike" cap="none" normalizeH="0" baseline="0">
              <a:ln>
                <a:noFill/>
              </a:ln>
              <a:solidFill>
                <a:srgbClr val="FFFFFF"/>
              </a:solidFill>
              <a:effectLst/>
            </a:endParaRPr>
          </a:p>
          <a:p>
            <a:pPr marL="0" marR="0" lvl="0" indent="0" fontAlgn="base">
              <a:lnSpc>
                <a:spcPct val="90000"/>
              </a:lnSpc>
              <a:spcBef>
                <a:spcPts val="1000"/>
              </a:spcBef>
              <a:buClr>
                <a:schemeClr val="accent1"/>
              </a:buClr>
              <a:buSzPct val="80000"/>
              <a:buFont typeface="Wingdings 3" charset="2"/>
              <a:buChar char=""/>
              <a:tabLst/>
            </a:pPr>
            <a:r>
              <a:rPr kumimoji="0" lang="en-US" altLang="en-US" sz="1400" b="1" i="0" u="none" strike="noStrike" cap="none" normalizeH="0" baseline="0">
                <a:ln>
                  <a:noFill/>
                </a:ln>
                <a:solidFill>
                  <a:srgbClr val="FFFFFF"/>
                </a:solidFill>
                <a:effectLst/>
              </a:rPr>
              <a:t>No (item_in_room is None):</a:t>
            </a:r>
            <a:endParaRPr kumimoji="0" lang="en-US" altLang="en-US" sz="1400" b="0" i="0" u="none" strike="noStrike" cap="none" normalizeH="0" baseline="0">
              <a:ln>
                <a:noFill/>
              </a:ln>
              <a:solidFill>
                <a:srgbClr val="FFFFFF"/>
              </a:solidFill>
              <a:effectLst/>
            </a:endParaRPr>
          </a:p>
          <a:p>
            <a:pPr marL="457200" marR="0" lvl="1" indent="0" fontAlgn="base">
              <a:lnSpc>
                <a:spcPct val="90000"/>
              </a:lnSpc>
              <a:spcBef>
                <a:spcPts val="1000"/>
              </a:spcBef>
              <a:buClr>
                <a:schemeClr val="accent1"/>
              </a:buClr>
              <a:buSzPct val="80000"/>
              <a:buFont typeface="Wingdings 3" charset="2"/>
              <a:buChar char=""/>
              <a:tabLst/>
            </a:pPr>
            <a:r>
              <a:rPr kumimoji="0" lang="en-US" altLang="en-US" sz="1400" b="0" i="0" u="none" strike="noStrike" cap="none" normalizeH="0" baseline="0">
                <a:ln>
                  <a:noFill/>
                </a:ln>
                <a:solidFill>
                  <a:srgbClr val="FFFFFF"/>
                </a:solidFill>
                <a:effectLst/>
              </a:rPr>
              <a:t>Display: “There is no item in this room.”</a:t>
            </a:r>
          </a:p>
          <a:p>
            <a:pPr marL="457200" marR="0" lvl="1" indent="0" fontAlgn="base">
              <a:lnSpc>
                <a:spcPct val="90000"/>
              </a:lnSpc>
              <a:spcBef>
                <a:spcPts val="1000"/>
              </a:spcBef>
              <a:buClr>
                <a:schemeClr val="accent1"/>
              </a:buClr>
              <a:buSzPct val="80000"/>
              <a:buFont typeface="Wingdings 3" charset="2"/>
              <a:buChar char=""/>
              <a:tabLst/>
            </a:pPr>
            <a:r>
              <a:rPr kumimoji="0" lang="en-US" altLang="en-US" sz="1400" b="0" i="0" u="none" strike="noStrike" cap="none" normalizeH="0" baseline="0">
                <a:ln>
                  <a:noFill/>
                </a:ln>
                <a:solidFill>
                  <a:srgbClr val="FFFFFF"/>
                </a:solidFill>
                <a:effectLst/>
              </a:rPr>
              <a:t>Return to the main movement loop</a:t>
            </a:r>
          </a:p>
          <a:p>
            <a:pPr marL="0" marR="0" lvl="0" indent="0" fontAlgn="base">
              <a:lnSpc>
                <a:spcPct val="90000"/>
              </a:lnSpc>
              <a:spcBef>
                <a:spcPts val="1000"/>
              </a:spcBef>
              <a:buClr>
                <a:schemeClr val="accent1"/>
              </a:buClr>
              <a:buSzPct val="80000"/>
              <a:buFont typeface="Wingdings 3" charset="2"/>
              <a:buChar char=""/>
              <a:tabLst/>
            </a:pPr>
            <a:r>
              <a:rPr kumimoji="0" lang="en-US" altLang="en-US" sz="1400" b="1" i="0" u="none" strike="noStrike" cap="none" normalizeH="0" baseline="0">
                <a:ln>
                  <a:noFill/>
                </a:ln>
                <a:solidFill>
                  <a:srgbClr val="FFFFFF"/>
                </a:solidFill>
                <a:effectLst/>
              </a:rPr>
              <a:t>Yes (there </a:t>
            </a:r>
            <a:r>
              <a:rPr kumimoji="0" lang="en-US" altLang="en-US" sz="1400" b="1" i="1" u="none" strike="noStrike" cap="none" normalizeH="0" baseline="0">
                <a:ln>
                  <a:noFill/>
                </a:ln>
                <a:solidFill>
                  <a:srgbClr val="FFFFFF"/>
                </a:solidFill>
                <a:effectLst/>
              </a:rPr>
              <a:t>is</a:t>
            </a:r>
            <a:r>
              <a:rPr kumimoji="0" lang="en-US" altLang="en-US" sz="1400" b="1" i="0" u="none" strike="noStrike" cap="none" normalizeH="0" baseline="0">
                <a:ln>
                  <a:noFill/>
                </a:ln>
                <a:solidFill>
                  <a:srgbClr val="FFFFFF"/>
                </a:solidFill>
                <a:effectLst/>
              </a:rPr>
              <a:t> an item):</a:t>
            </a:r>
            <a:endParaRPr kumimoji="0" lang="en-US" altLang="en-US" sz="1400" b="0" i="0" u="none" strike="noStrike" cap="none" normalizeH="0" baseline="0">
              <a:ln>
                <a:noFill/>
              </a:ln>
              <a:solidFill>
                <a:srgbClr val="FFFFFF"/>
              </a:solidFill>
              <a:effectLst/>
            </a:endParaRPr>
          </a:p>
          <a:p>
            <a:pPr marL="457200" marR="0" lvl="1" indent="0" fontAlgn="base">
              <a:lnSpc>
                <a:spcPct val="90000"/>
              </a:lnSpc>
              <a:spcBef>
                <a:spcPts val="1000"/>
              </a:spcBef>
              <a:buClr>
                <a:schemeClr val="accent1"/>
              </a:buClr>
              <a:buSzPct val="80000"/>
              <a:buFont typeface="Wingdings 3" charset="2"/>
              <a:buChar char=""/>
              <a:tabLst/>
            </a:pPr>
            <a:r>
              <a:rPr kumimoji="0" lang="en-US" altLang="en-US" sz="1400" b="0" i="0" u="none" strike="noStrike" cap="none" normalizeH="0" baseline="0">
                <a:ln>
                  <a:noFill/>
                </a:ln>
                <a:solidFill>
                  <a:srgbClr val="FFFFFF"/>
                </a:solidFill>
                <a:effectLst/>
              </a:rPr>
              <a:t>Display: “You see [item_in_room] here.”</a:t>
            </a:r>
          </a:p>
          <a:p>
            <a:pPr marL="457200" marR="0" lvl="1" indent="0" fontAlgn="base">
              <a:lnSpc>
                <a:spcPct val="90000"/>
              </a:lnSpc>
              <a:spcBef>
                <a:spcPts val="1000"/>
              </a:spcBef>
              <a:buClr>
                <a:schemeClr val="accent1"/>
              </a:buClr>
              <a:buSzPct val="80000"/>
              <a:buFont typeface="Wingdings 3" charset="2"/>
              <a:buChar char=""/>
              <a:tabLst/>
            </a:pPr>
            <a:r>
              <a:rPr kumimoji="0" lang="en-US" altLang="en-US" sz="1400" b="0" i="0" u="none" strike="noStrike" cap="none" normalizeH="0" baseline="0">
                <a:ln>
                  <a:noFill/>
                </a:ln>
                <a:solidFill>
                  <a:srgbClr val="FFFFFF"/>
                </a:solidFill>
                <a:effectLst/>
              </a:rPr>
              <a:t>Prompt player: “Type the name of the item to pick it up:”</a:t>
            </a:r>
          </a:p>
          <a:p>
            <a:pPr marL="457200" marR="0" lvl="1" indent="0" fontAlgn="base">
              <a:lnSpc>
                <a:spcPct val="90000"/>
              </a:lnSpc>
              <a:spcBef>
                <a:spcPts val="1000"/>
              </a:spcBef>
              <a:buClr>
                <a:schemeClr val="accent1"/>
              </a:buClr>
              <a:buSzPct val="80000"/>
              <a:buFont typeface="Wingdings 3" charset="2"/>
              <a:buChar char=""/>
              <a:tabLst/>
            </a:pPr>
            <a:r>
              <a:rPr kumimoji="0" lang="en-US" altLang="en-US" sz="1400" b="0" i="0" u="none" strike="noStrike" cap="none" normalizeH="0" baseline="0">
                <a:ln>
                  <a:noFill/>
                </a:ln>
                <a:solidFill>
                  <a:srgbClr val="FFFFFF"/>
                </a:solidFill>
                <a:effectLst/>
              </a:rPr>
              <a:t>Get item_input from the player</a:t>
            </a:r>
          </a:p>
          <a:p>
            <a:pPr marL="457200" marR="0" lvl="1" indent="0" fontAlgn="base">
              <a:lnSpc>
                <a:spcPct val="90000"/>
              </a:lnSpc>
              <a:spcBef>
                <a:spcPts val="1000"/>
              </a:spcBef>
              <a:buClr>
                <a:schemeClr val="accent1"/>
              </a:buClr>
              <a:buSzPct val="80000"/>
              <a:buFont typeface="Wingdings 3" charset="2"/>
              <a:buChar char=""/>
              <a:tabLst/>
            </a:pPr>
            <a:r>
              <a:rPr kumimoji="0" lang="en-US" altLang="en-US" sz="1400" b="0" i="0" u="none" strike="noStrike" cap="none" normalizeH="0" baseline="0">
                <a:ln>
                  <a:noFill/>
                </a:ln>
                <a:solidFill>
                  <a:srgbClr val="FFFFFF"/>
                </a:solidFill>
                <a:effectLst/>
              </a:rPr>
              <a:t>Convert item_input to a standard format (like lowercase, strip spaces)</a:t>
            </a:r>
          </a:p>
          <a:p>
            <a:pPr marL="457200" marR="0" lvl="1" indent="0" fontAlgn="base">
              <a:lnSpc>
                <a:spcPct val="90000"/>
              </a:lnSpc>
              <a:spcBef>
                <a:spcPts val="1000"/>
              </a:spcBef>
              <a:buClr>
                <a:schemeClr val="accent1"/>
              </a:buClr>
              <a:buSzPct val="80000"/>
              <a:buFont typeface="Wingdings 3" charset="2"/>
              <a:buChar char=""/>
              <a:tabLst/>
            </a:pPr>
            <a:r>
              <a:rPr kumimoji="0" lang="en-US" altLang="en-US" sz="1400" b="1" i="0" u="none" strike="noStrike" cap="none" normalizeH="0" baseline="0">
                <a:ln>
                  <a:noFill/>
                </a:ln>
                <a:solidFill>
                  <a:srgbClr val="FFFFFF"/>
                </a:solidFill>
                <a:effectLst/>
              </a:rPr>
              <a:t>Decision: Does item_input match item_in_room?</a:t>
            </a:r>
            <a:endParaRPr kumimoji="0" lang="en-US" altLang="en-US" sz="1400" b="0" i="0" u="none" strike="noStrike" cap="none" normalizeH="0" baseline="0">
              <a:ln>
                <a:noFill/>
              </a:ln>
              <a:solidFill>
                <a:srgbClr val="FFFFFF"/>
              </a:solidFill>
              <a:effectLst/>
            </a:endParaRPr>
          </a:p>
          <a:p>
            <a:pPr marL="914400" marR="0" lvl="2" indent="0" fontAlgn="base">
              <a:lnSpc>
                <a:spcPct val="90000"/>
              </a:lnSpc>
              <a:spcBef>
                <a:spcPts val="1000"/>
              </a:spcBef>
              <a:buClr>
                <a:schemeClr val="accent1"/>
              </a:buClr>
              <a:buSzPct val="80000"/>
              <a:buFont typeface="Wingdings 3" charset="2"/>
              <a:buChar char=""/>
              <a:tabLst/>
            </a:pPr>
            <a:endParaRPr kumimoji="0" lang="en-US" altLang="en-US" sz="1400" b="0" i="0" u="none" strike="noStrike" cap="none" normalizeH="0" baseline="0">
              <a:ln>
                <a:noFill/>
              </a:ln>
              <a:solidFill>
                <a:srgbClr val="FFFFFF"/>
              </a:solidFill>
              <a:effectLst/>
            </a:endParaRPr>
          </a:p>
        </p:txBody>
      </p:sp>
      <p:sp>
        <p:nvSpPr>
          <p:cNvPr id="3" name="TextBox 2"/>
          <p:cNvSpPr txBox="1"/>
          <p:nvPr/>
        </p:nvSpPr>
        <p:spPr>
          <a:xfrm>
            <a:off x="4587063" y="609600"/>
            <a:ext cx="4133472" cy="5545667"/>
          </a:xfrm>
          <a:prstGeom prst="rect">
            <a:avLst/>
          </a:prstGeom>
        </p:spPr>
        <p:txBody>
          <a:bodyPr vert="horz" lIns="91440" tIns="45720" rIns="91440" bIns="45720" rtlCol="0" anchor="ctr">
            <a:normAutofit/>
          </a:bodyPr>
          <a:lstStyle/>
          <a:p>
            <a:pPr>
              <a:spcBef>
                <a:spcPts val="1000"/>
              </a:spcBef>
              <a:buClr>
                <a:schemeClr val="accent1"/>
              </a:buClr>
              <a:buSzPct val="80000"/>
              <a:buFont typeface="Wingdings 3" charset="2"/>
              <a:buChar char=""/>
              <a:defRPr sz="2000" b="0">
                <a:solidFill>
                  <a:srgbClr val="EBEBEB"/>
                </a:solidFill>
              </a:defRPr>
            </a:pPr>
            <a:endParaRPr lang="en-US" sz="2000" dirty="0">
              <a:solidFill>
                <a:srgbClr val="FFFFFF"/>
              </a:solidFill>
            </a:endParaRPr>
          </a:p>
        </p:txBody>
      </p:sp>
    </p:spTree>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FFA844EB-B4EF-4B2F-95CF-9E5C16B5B4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5" name="Straight Connector 14">
              <a:extLst>
                <a:ext uri="{FF2B5EF4-FFF2-40B4-BE49-F238E27FC236}">
                  <a16:creationId xmlns:a16="http://schemas.microsoft.com/office/drawing/2014/main" id="{D31205C9-9B34-4789-AA9B-D7B86D3A109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C1E24DB-0094-4D06-8F57-85C95C8743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17" name="Rectangle 23">
              <a:extLst>
                <a:ext uri="{FF2B5EF4-FFF2-40B4-BE49-F238E27FC236}">
                  <a16:creationId xmlns:a16="http://schemas.microsoft.com/office/drawing/2014/main" id="{DE703DF5-9BDF-42DB-9820-EDEAC68B0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5">
              <a:extLst>
                <a:ext uri="{FF2B5EF4-FFF2-40B4-BE49-F238E27FC236}">
                  <a16:creationId xmlns:a16="http://schemas.microsoft.com/office/drawing/2014/main" id="{045EAFA8-4C32-4942-9360-AB2082086A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3CAD2203-A7B2-45D8-9240-A3542F0FD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7">
              <a:extLst>
                <a:ext uri="{FF2B5EF4-FFF2-40B4-BE49-F238E27FC236}">
                  <a16:creationId xmlns:a16="http://schemas.microsoft.com/office/drawing/2014/main" id="{5DC5EF1D-D76F-48F5-ACAF-7F209B6463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C021030B-EC50-4CBB-847B-BF6FA8978E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9">
              <a:extLst>
                <a:ext uri="{FF2B5EF4-FFF2-40B4-BE49-F238E27FC236}">
                  <a16:creationId xmlns:a16="http://schemas.microsoft.com/office/drawing/2014/main" id="{E8ACDF8F-1AEB-4514-AC25-BDD3A547F9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a:extLst>
                <a:ext uri="{FF2B5EF4-FFF2-40B4-BE49-F238E27FC236}">
                  <a16:creationId xmlns:a16="http://schemas.microsoft.com/office/drawing/2014/main" id="{AD6FF1EB-A33A-4569-B7E2-09FD56D169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a:extLst>
                <a:ext uri="{FF2B5EF4-FFF2-40B4-BE49-F238E27FC236}">
                  <a16:creationId xmlns:a16="http://schemas.microsoft.com/office/drawing/2014/main" id="{B844DC64-9C05-463C-B2AB-40225DA81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6" name="Rectangle 25">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8" name="Rectangle 27">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5032"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599781" y="3681413"/>
            <a:ext cx="3572669"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34"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93473" y="-8467"/>
            <a:ext cx="2255512"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9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Isosceles Triangle 37">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6616" y="3048000"/>
            <a:ext cx="2444750"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82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Isosceles Triangle 41">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6115" y="3589867"/>
            <a:ext cx="1362870"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4" name="Freeform: Shape 43">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1615" y="-8467"/>
            <a:ext cx="5332385"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E4913A1D-0877-8B0C-ACCE-82486713BADA}"/>
              </a:ext>
            </a:extLst>
          </p:cNvPr>
          <p:cNvSpPr txBox="1"/>
          <p:nvPr/>
        </p:nvSpPr>
        <p:spPr>
          <a:xfrm>
            <a:off x="4587063" y="609600"/>
            <a:ext cx="4133472" cy="5545667"/>
          </a:xfrm>
          <a:prstGeom prst="rect">
            <a:avLst/>
          </a:prstGeom>
        </p:spPr>
        <p:txBody>
          <a:bodyPr vert="horz" lIns="91440" tIns="45720" rIns="91440" bIns="45720" rtlCol="0" anchor="ctr">
            <a:normAutofit/>
          </a:bodyPr>
          <a:lstStyle/>
          <a:p>
            <a:pPr marL="914400" marR="0" lvl="2" indent="0" fontAlgn="base">
              <a:lnSpc>
                <a:spcPct val="90000"/>
              </a:lnSpc>
              <a:spcBef>
                <a:spcPts val="1000"/>
              </a:spcBef>
              <a:buClr>
                <a:schemeClr val="accent1"/>
              </a:buClr>
              <a:buSzPct val="80000"/>
              <a:buFont typeface="Wingdings 3" charset="2"/>
              <a:buChar char=""/>
              <a:tabLst/>
            </a:pPr>
            <a:r>
              <a:rPr kumimoji="0" lang="en-US" altLang="en-US" sz="1400" b="1" i="0" u="none" strike="noStrike" cap="none" normalizeH="0" baseline="0" dirty="0">
                <a:ln>
                  <a:noFill/>
                </a:ln>
                <a:solidFill>
                  <a:srgbClr val="FFFFFF"/>
                </a:solidFill>
                <a:effectLst/>
              </a:rPr>
              <a:t>Yes – valid item:</a:t>
            </a:r>
            <a:endParaRPr kumimoji="0" lang="en-US" altLang="en-US" sz="1400" b="0" i="0" u="none" strike="noStrike" cap="none" normalizeH="0" baseline="0" dirty="0">
              <a:ln>
                <a:noFill/>
              </a:ln>
              <a:solidFill>
                <a:srgbClr val="FFFFFF"/>
              </a:solidFill>
              <a:effectLst/>
            </a:endParaRPr>
          </a:p>
          <a:p>
            <a:pPr marL="1371600" marR="0" lvl="3" indent="0" fontAlgn="base">
              <a:lnSpc>
                <a:spcPct val="90000"/>
              </a:lnSpc>
              <a:spcBef>
                <a:spcPts val="1000"/>
              </a:spcBef>
              <a:buClr>
                <a:schemeClr val="accent1"/>
              </a:buClr>
              <a:buSzPct val="80000"/>
              <a:buFont typeface="Wingdings 3" charset="2"/>
              <a:buChar char=""/>
              <a:tabLst/>
            </a:pPr>
            <a:r>
              <a:rPr kumimoji="0" lang="en-US" altLang="en-US" sz="1400" b="0" i="0" u="none" strike="noStrike" cap="none" normalizeH="0" baseline="0" dirty="0">
                <a:ln>
                  <a:noFill/>
                </a:ln>
                <a:solidFill>
                  <a:srgbClr val="FFFFFF"/>
                </a:solidFill>
                <a:effectLst/>
              </a:rPr>
              <a:t>Add </a:t>
            </a:r>
            <a:r>
              <a:rPr kumimoji="0" lang="en-US" altLang="en-US" sz="1400" b="0" i="0" u="none" strike="noStrike" cap="none" normalizeH="0" baseline="0">
                <a:ln>
                  <a:noFill/>
                </a:ln>
                <a:solidFill>
                  <a:srgbClr val="FFFFFF"/>
                </a:solidFill>
                <a:effectLst/>
              </a:rPr>
              <a:t>item_in_room</a:t>
            </a:r>
            <a:r>
              <a:rPr kumimoji="0" lang="en-US" altLang="en-US" sz="1400" b="0" i="0" u="none" strike="noStrike" cap="none" normalizeH="0" baseline="0" dirty="0">
                <a:ln>
                  <a:noFill/>
                </a:ln>
                <a:solidFill>
                  <a:srgbClr val="FFFFFF"/>
                </a:solidFill>
                <a:effectLst/>
              </a:rPr>
              <a:t> to inventory</a:t>
            </a:r>
          </a:p>
          <a:p>
            <a:pPr marL="1371600" marR="0" lvl="3" indent="0" fontAlgn="base">
              <a:lnSpc>
                <a:spcPct val="90000"/>
              </a:lnSpc>
              <a:spcBef>
                <a:spcPts val="1000"/>
              </a:spcBef>
              <a:buClr>
                <a:schemeClr val="accent1"/>
              </a:buClr>
              <a:buSzPct val="80000"/>
              <a:buFont typeface="Wingdings 3" charset="2"/>
              <a:buChar char=""/>
              <a:tabLst/>
            </a:pPr>
            <a:r>
              <a:rPr kumimoji="0" lang="en-US" altLang="en-US" sz="1400" b="0" i="0" u="none" strike="noStrike" cap="none" normalizeH="0" baseline="0" dirty="0">
                <a:ln>
                  <a:noFill/>
                </a:ln>
                <a:solidFill>
                  <a:srgbClr val="FFFFFF"/>
                </a:solidFill>
                <a:effectLst/>
              </a:rPr>
              <a:t>Remove the item from the room so it can’t be collected twice</a:t>
            </a:r>
          </a:p>
          <a:p>
            <a:pPr marL="1828800" marR="0" lvl="4" indent="0" fontAlgn="base">
              <a:lnSpc>
                <a:spcPct val="90000"/>
              </a:lnSpc>
              <a:spcBef>
                <a:spcPts val="1000"/>
              </a:spcBef>
              <a:buClr>
                <a:schemeClr val="accent1"/>
              </a:buClr>
              <a:buSzPct val="80000"/>
              <a:buFont typeface="Wingdings 3" charset="2"/>
              <a:buChar char=""/>
              <a:tabLst/>
            </a:pPr>
            <a:r>
              <a:rPr kumimoji="0" lang="en-US" altLang="en-US" sz="1400" b="0" i="0" u="none" strike="noStrike" cap="none" normalizeH="0" baseline="0" dirty="0">
                <a:ln>
                  <a:noFill/>
                </a:ln>
                <a:solidFill>
                  <a:srgbClr val="FFFFFF"/>
                </a:solidFill>
                <a:effectLst/>
              </a:rPr>
              <a:t>(For example, set </a:t>
            </a:r>
            <a:r>
              <a:rPr kumimoji="0" lang="en-US" altLang="en-US" sz="1400" b="0" i="0" u="none" strike="noStrike" cap="none" normalizeH="0" baseline="0">
                <a:ln>
                  <a:noFill/>
                </a:ln>
                <a:solidFill>
                  <a:srgbClr val="FFFFFF"/>
                </a:solidFill>
                <a:effectLst/>
              </a:rPr>
              <a:t>room_items</a:t>
            </a:r>
            <a:r>
              <a:rPr kumimoji="0" lang="en-US" altLang="en-US" sz="1400" b="0" i="0" u="none" strike="noStrike" cap="none" normalizeH="0" baseline="0" dirty="0">
                <a:ln>
                  <a:noFill/>
                </a:ln>
                <a:solidFill>
                  <a:srgbClr val="FFFFFF"/>
                </a:solidFill>
                <a:effectLst/>
              </a:rPr>
              <a:t>[</a:t>
            </a:r>
            <a:r>
              <a:rPr kumimoji="0" lang="en-US" altLang="en-US" sz="1400" b="0" i="0" u="none" strike="noStrike" cap="none" normalizeH="0" baseline="0">
                <a:ln>
                  <a:noFill/>
                </a:ln>
                <a:solidFill>
                  <a:srgbClr val="FFFFFF"/>
                </a:solidFill>
                <a:effectLst/>
              </a:rPr>
              <a:t>current_room</a:t>
            </a:r>
            <a:r>
              <a:rPr kumimoji="0" lang="en-US" altLang="en-US" sz="1400" b="0" i="0" u="none" strike="noStrike" cap="none" normalizeH="0" baseline="0" dirty="0">
                <a:ln>
                  <a:noFill/>
                </a:ln>
                <a:solidFill>
                  <a:srgbClr val="FFFFFF"/>
                </a:solidFill>
                <a:effectLst/>
              </a:rPr>
              <a:t>] = None)</a:t>
            </a:r>
          </a:p>
          <a:p>
            <a:pPr marL="1371600" marR="0" lvl="3" indent="0" fontAlgn="base">
              <a:lnSpc>
                <a:spcPct val="90000"/>
              </a:lnSpc>
              <a:spcBef>
                <a:spcPts val="1000"/>
              </a:spcBef>
              <a:buClr>
                <a:schemeClr val="accent1"/>
              </a:buClr>
              <a:buSzPct val="80000"/>
              <a:buFont typeface="Wingdings 3" charset="2"/>
              <a:buChar char=""/>
              <a:tabLst/>
            </a:pPr>
            <a:r>
              <a:rPr kumimoji="0" lang="en-US" altLang="en-US" sz="1400" b="0" i="0" u="none" strike="noStrike" cap="none" normalizeH="0" baseline="0" dirty="0">
                <a:ln>
                  <a:noFill/>
                </a:ln>
                <a:solidFill>
                  <a:srgbClr val="FFFFFF"/>
                </a:solidFill>
                <a:effectLst/>
              </a:rPr>
              <a:t>Display: “You carefully pick up the [</a:t>
            </a:r>
            <a:r>
              <a:rPr kumimoji="0" lang="en-US" altLang="en-US" sz="1400" b="0" i="0" u="none" strike="noStrike" cap="none" normalizeH="0" baseline="0">
                <a:ln>
                  <a:noFill/>
                </a:ln>
                <a:solidFill>
                  <a:srgbClr val="FFFFFF"/>
                </a:solidFill>
                <a:effectLst/>
              </a:rPr>
              <a:t>item_in_room</a:t>
            </a:r>
            <a:r>
              <a:rPr kumimoji="0" lang="en-US" altLang="en-US" sz="1400" b="0" i="0" u="none" strike="noStrike" cap="none" normalizeH="0" baseline="0" dirty="0">
                <a:ln>
                  <a:noFill/>
                </a:ln>
                <a:solidFill>
                  <a:srgbClr val="FFFFFF"/>
                </a:solidFill>
                <a:effectLst/>
              </a:rPr>
              <a:t>] and add it to your pack.”</a:t>
            </a:r>
          </a:p>
          <a:p>
            <a:pPr marL="1371600" marR="0" lvl="3" indent="0" fontAlgn="base">
              <a:lnSpc>
                <a:spcPct val="90000"/>
              </a:lnSpc>
              <a:spcBef>
                <a:spcPts val="1000"/>
              </a:spcBef>
              <a:buClr>
                <a:schemeClr val="accent1"/>
              </a:buClr>
              <a:buSzPct val="80000"/>
              <a:buFont typeface="Wingdings 3" charset="2"/>
              <a:buChar char=""/>
              <a:tabLst/>
            </a:pPr>
            <a:r>
              <a:rPr kumimoji="0" lang="en-US" altLang="en-US" sz="1400" b="0" i="0" u="none" strike="noStrike" cap="none" normalizeH="0" baseline="0" dirty="0">
                <a:ln>
                  <a:noFill/>
                </a:ln>
                <a:solidFill>
                  <a:srgbClr val="FFFFFF"/>
                </a:solidFill>
                <a:effectLst/>
              </a:rPr>
              <a:t>Return to the main movement loop</a:t>
            </a:r>
          </a:p>
          <a:p>
            <a:pPr marL="914400" marR="0" lvl="2" indent="0" fontAlgn="base">
              <a:lnSpc>
                <a:spcPct val="90000"/>
              </a:lnSpc>
              <a:spcBef>
                <a:spcPts val="1000"/>
              </a:spcBef>
              <a:buClr>
                <a:schemeClr val="accent1"/>
              </a:buClr>
              <a:buSzPct val="80000"/>
              <a:buFont typeface="Wingdings 3" charset="2"/>
              <a:buChar char=""/>
              <a:tabLst/>
            </a:pPr>
            <a:r>
              <a:rPr kumimoji="0" lang="en-US" altLang="en-US" sz="1400" b="1" i="0" u="none" strike="noStrike" cap="none" normalizeH="0" baseline="0" dirty="0">
                <a:ln>
                  <a:noFill/>
                </a:ln>
                <a:solidFill>
                  <a:srgbClr val="FFFFFF"/>
                </a:solidFill>
                <a:effectLst/>
              </a:rPr>
              <a:t>No – invalid item name:</a:t>
            </a:r>
            <a:endParaRPr kumimoji="0" lang="en-US" altLang="en-US" sz="1400" b="0" i="0" u="none" strike="noStrike" cap="none" normalizeH="0" baseline="0" dirty="0">
              <a:ln>
                <a:noFill/>
              </a:ln>
              <a:solidFill>
                <a:srgbClr val="FFFFFF"/>
              </a:solidFill>
              <a:effectLst/>
            </a:endParaRPr>
          </a:p>
          <a:p>
            <a:pPr marL="1371600" marR="0" lvl="3" indent="0" fontAlgn="base">
              <a:lnSpc>
                <a:spcPct val="90000"/>
              </a:lnSpc>
              <a:spcBef>
                <a:spcPts val="1000"/>
              </a:spcBef>
              <a:buClr>
                <a:schemeClr val="accent1"/>
              </a:buClr>
              <a:buSzPct val="80000"/>
              <a:buFont typeface="Wingdings 3" charset="2"/>
              <a:buChar char=""/>
              <a:tabLst/>
            </a:pPr>
            <a:r>
              <a:rPr kumimoji="0" lang="en-US" altLang="en-US" sz="1400" b="0" i="0" u="none" strike="noStrike" cap="none" normalizeH="0" baseline="0" dirty="0">
                <a:ln>
                  <a:noFill/>
                </a:ln>
                <a:solidFill>
                  <a:srgbClr val="FFFFFF"/>
                </a:solidFill>
                <a:effectLst/>
              </a:rPr>
              <a:t>Display: “That item isn’t here.”</a:t>
            </a:r>
          </a:p>
          <a:p>
            <a:pPr marL="1371600" marR="0" lvl="3" indent="0" fontAlgn="base">
              <a:lnSpc>
                <a:spcPct val="90000"/>
              </a:lnSpc>
              <a:spcBef>
                <a:spcPts val="1000"/>
              </a:spcBef>
              <a:buClr>
                <a:schemeClr val="accent1"/>
              </a:buClr>
              <a:buSzPct val="80000"/>
              <a:buFont typeface="Wingdings 3" charset="2"/>
              <a:buChar char=""/>
              <a:tabLst/>
            </a:pPr>
            <a:r>
              <a:rPr kumimoji="0" lang="en-US" altLang="en-US" sz="1400" b="0" i="0" u="none" strike="noStrike" cap="none" normalizeH="0" baseline="0" dirty="0">
                <a:ln>
                  <a:noFill/>
                </a:ln>
                <a:solidFill>
                  <a:srgbClr val="FFFFFF"/>
                </a:solidFill>
                <a:effectLst/>
              </a:rPr>
              <a:t>Do not change inventory</a:t>
            </a:r>
          </a:p>
          <a:p>
            <a:pPr marL="1371600" marR="0" lvl="3" indent="0" fontAlgn="base">
              <a:lnSpc>
                <a:spcPct val="90000"/>
              </a:lnSpc>
              <a:spcBef>
                <a:spcPts val="1000"/>
              </a:spcBef>
              <a:buClr>
                <a:schemeClr val="accent1"/>
              </a:buClr>
              <a:buSzPct val="80000"/>
              <a:buFont typeface="Wingdings 3" charset="2"/>
              <a:buChar char=""/>
              <a:tabLst/>
            </a:pPr>
            <a:r>
              <a:rPr kumimoji="0" lang="en-US" altLang="en-US" sz="1400" b="0" i="0" u="none" strike="noStrike" cap="none" normalizeH="0" baseline="0" dirty="0">
                <a:ln>
                  <a:noFill/>
                </a:ln>
                <a:solidFill>
                  <a:srgbClr val="FFFFFF"/>
                </a:solidFill>
                <a:effectLst/>
              </a:rPr>
              <a:t>Return to the main movement loop</a:t>
            </a:r>
          </a:p>
          <a:p>
            <a:pPr marL="0" marR="0" lvl="0" indent="0" fontAlgn="base">
              <a:lnSpc>
                <a:spcPct val="90000"/>
              </a:lnSpc>
              <a:spcBef>
                <a:spcPts val="1000"/>
              </a:spcBef>
              <a:buClr>
                <a:schemeClr val="accent1"/>
              </a:buClr>
              <a:buSzPct val="80000"/>
              <a:buFont typeface="Wingdings 3" charset="2"/>
              <a:buChar char=""/>
              <a:tabLst/>
            </a:pPr>
            <a:r>
              <a:rPr kumimoji="0" lang="en-US" altLang="en-US" sz="1400" b="1" i="0" u="none" strike="noStrike" cap="none" normalizeH="0" baseline="0" dirty="0">
                <a:ln>
                  <a:noFill/>
                </a:ln>
                <a:solidFill>
                  <a:srgbClr val="FFFFFF"/>
                </a:solidFill>
                <a:effectLst/>
              </a:rPr>
              <a:t>End Get Item Logic</a:t>
            </a:r>
            <a:endParaRPr lang="en-US" sz="1400">
              <a:solidFill>
                <a:srgbClr val="FFFFFF"/>
              </a:solidFill>
            </a:endParaRPr>
          </a:p>
        </p:txBody>
      </p:sp>
      <p:sp>
        <p:nvSpPr>
          <p:cNvPr id="9" name="TextBox 8">
            <a:extLst>
              <a:ext uri="{FF2B5EF4-FFF2-40B4-BE49-F238E27FC236}">
                <a16:creationId xmlns:a16="http://schemas.microsoft.com/office/drawing/2014/main" id="{7B5E3B66-34B2-00E4-8A2A-A1CEF989A1C6}"/>
              </a:ext>
            </a:extLst>
          </p:cNvPr>
          <p:cNvSpPr txBox="1"/>
          <p:nvPr/>
        </p:nvSpPr>
        <p:spPr>
          <a:xfrm>
            <a:off x="508000" y="609599"/>
            <a:ext cx="2882531" cy="5545667"/>
          </a:xfrm>
          <a:prstGeom prst="rect">
            <a:avLst/>
          </a:prstGeom>
        </p:spPr>
        <p:txBody>
          <a:bodyPr vert="horz" lIns="91440" tIns="45720" rIns="91440" bIns="45720" rtlCol="0" anchor="ctr">
            <a:normAutofit/>
          </a:bodyPr>
          <a:lstStyle/>
          <a:p>
            <a:pPr>
              <a:spcBef>
                <a:spcPct val="0"/>
              </a:spcBef>
              <a:spcAft>
                <a:spcPts val="600"/>
              </a:spcAft>
              <a:defRPr sz="3400" b="1">
                <a:solidFill>
                  <a:srgbClr val="78C878"/>
                </a:solidFill>
              </a:defRPr>
            </a:pPr>
            <a:r>
              <a:rPr lang="en-US" sz="3600" dirty="0">
                <a:solidFill>
                  <a:schemeClr val="tx1">
                    <a:lumMod val="85000"/>
                    <a:lumOff val="15000"/>
                  </a:schemeClr>
                </a:solidFill>
                <a:latin typeface="+mj-lt"/>
                <a:ea typeface="+mj-ea"/>
                <a:cs typeface="+mj-cs"/>
              </a:rPr>
              <a:t>Flowchart: Get Item Logic (continued)</a:t>
            </a:r>
          </a:p>
        </p:txBody>
      </p:sp>
    </p:spTree>
    <p:extLst>
      <p:ext uri="{BB962C8B-B14F-4D97-AF65-F5344CB8AC3E}">
        <p14:creationId xmlns:p14="http://schemas.microsoft.com/office/powerpoint/2010/main" val="38348501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
  <TotalTime>28</TotalTime>
  <Words>1254</Words>
  <Application>Microsoft Office PowerPoint</Application>
  <PresentationFormat>On-screen Show (4:3)</PresentationFormat>
  <Paragraphs>154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Unicode MS</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Melanie Jarrard</dc:creator>
  <cp:keywords/>
  <dc:description>generated using python-pptx</dc:description>
  <cp:lastModifiedBy>Melanie Jarrard</cp:lastModifiedBy>
  <cp:revision>2</cp:revision>
  <dcterms:created xsi:type="dcterms:W3CDTF">2013-01-27T09:14:16Z</dcterms:created>
  <dcterms:modified xsi:type="dcterms:W3CDTF">2025-11-30T06:19:18Z</dcterms:modified>
  <cp:category/>
</cp:coreProperties>
</file>